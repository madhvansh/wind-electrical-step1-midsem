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Sir, my design project is on grid-forming control of a PMSG wind turbine. The idea is to make the turbine itself supply inertia and frequency support to a weak grid, using its own rotor energy, without a battery. This is Step 1: the models, the first simulations, and the verification.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modern turbine connects through a back-to-back converter that is grid-following: a PLL measures grid frequency and the converter injects MPPT power. So the rotor kinetic energy is hidden, zero inertia, and in a weak grid the PLL tracks a voltage the converter itself disturbs and can lose synchronism. India: 54 GW wind; Ember counts 68 events with more than 1 GW lost each, Jan 2022 to Jul 2025, traced to ride-through failures and PLL instability in Rajasthan. GRID-INDIA Feb 2026 discussion paper recommends grid-forming but covers BESS and solar, little on wind: that is the gap. CEA amendment applies from April 2027.</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starts from class. Power in the wind is half rho A v cubed; Betz limit 16/27 = 0.593. This is the Cp-lambda family for my 2 MW turbine with the Heier model: Cp max 0.480 at lambda opt 8.10, 81 percent of Betz; real blades sit below Betz because of drag, the CD/CL term from our aerodynamic-efficiency derivation. MPPT means staying on the peak, the Cp-optimal line, which gives P = K omega cubed. The two control handles from the notes, pitch and electrical power control through the converter, are the ones I use.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Grey curves: power versus rotor speed per wind speed. Black dashed: MPPT locus. I deliberately run on the overspeed side, the green locus. At 9 m/s MPPT is 844 kW at 19.7 rpm; deloaded the turbine runs 23.3 rpm, 759 kW, holding 84 kW reserve and storing extra kinetic energy. When frequency falls and the converter pulls more power the rotor slows, moves toward the peak, Cp rises, aerodynamic power increases exactly when the grid needs it: kinetic energy and reserve come out together, no secondary dip. Below rated no pitch; above 12 m/s the speed limit binds and pitch takes over, 1.2 deg at 12 m/s, 8.5 deg at 14.</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 reserve grows with wind speed, 25 kW at 6 m/s, 84 at 9, 154 at 11, 200 kW at rated. Bottom: releasable kinetic energy. At 9 m/s one turbine releases 1.36 MJ slowing back to MPPT speed and 3.23 MJ down to the 0.5 pu floor; equivalent H 0.68 s and 1.62 s on 2 MW. Cost: for an illustrative Indian site, Weibull k 2, c 7.5, a permanent 10 percent deload cuts annual energy from 4725 to 4253 MWh, CF 27.0 to 24.3 percent, about 16.5 lakh rupees a year at 3.5 per unit. An upper bound: the reserve is needed only in low-inertia hours and it replaces a battery.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Kundur-style equivalent: one synchronous fleet, H 5 s, reheat steam governor; DC power-flow network; 1000 MW load; 50 MW step at 1 s. Wind supplies 40 percent at 9 m/s: 474 turbines, 948 MW. Five cases: C0 all synchronous; C1 grid-following MPPT, today's practice; C2 grid-following plus synthetic inertia and droop, no reserve, what vendors offer; C3 the same controller with my 10 percent reserve; C4 the proposal, a grid-forming VSM with the reserve. C2 to C4 use identical gains, Hv 5 s and 5 percent droop, so the comparison is fair.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Grey band: IEGC 49.90 to 50.05 Hz. C0 nadir 49.771. C1 grid-following MPPT: 40 percent wind cuts system inertia from 5.88 to 3.76 s, nadir 49.659, RoCoF at the step 0.33 Hz/s. C2 synthetic inertia without reserve looks good for two seconds then keeps sagging: the rotor falls from 0.75 to 0.70 pu, leaves the optimum, capture drops, minimum 49.815 Hz at 11 s and it settles worse than no support. This is the secondary-dip problem, Ullah 2008. C4 proposed: nadir 49.906, inside the band, RoCoF at the step 0.162 Hz/s, half of grid-following, system inertia 8.51 s, rotor 0.888 to 0.831 pu, no secondary dip. Honest point: C3, grid-following with the same reserve, reaches the same nadir, the reserve sets the nadir. Grid-forming wins on instantaneous RoCoF, real inertia, and weak-grid stability.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 electrical power. Orange no-reserve spikes to 433 MW then decays because it is borrowing. Green with reserve steps from 360 to about 397 MW and holds about 387. Middle, aerodynamic power: orange falls as the rotor leaves the optimum; green rises from 360 to 386 MW as the rotor slows toward the peak, the overspeed effect. Bottom: orange rotor drops below the MPPT speed 0.75 pu to 0.70; green stays above it, 0.888 to 0.831 pu.</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B3 summarises nadir, RoCoF and secondary dip. The 500 ms RoCoF bars of C2, C3, C4 are similar, which is honest: over half a second a fast synthetic-inertia loop matches grid-forming with my optimistic 50 ms measurement lag. B4: from 10 to 60 percent wind the grid-following nadir worsens 49.751 to 49.547 Hz; the grid-forming nadir improves 49.811 to 49.928 Hz, because every GFM turbine adds inertia and reserve. More wind means a stronger grid.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 = fault level over plant rating; below 3 is weak by IEEE 1204, and the Rajasthan hubs are weak in this sense. Left: a grid-following converter exporting 1 pu with PLL and AC-voltage loop. As SCR falls its damping collapses and a 5 to 7 Hz PLL-voltage-loop oscillation crosses into the right half plane at SCR 1.30 to 1.37. Right: the grid-forming VSM stays stable to the static limit at SCR 1.0 and its swing-mode damping improves as the grid weakens. The duality of Li, Gu and Green 2022. Also, in the frequency case, weakening the connection from SCR 3 to 1 leaves the nadir at 49.906 and raises the machine-converter damping from 0.25 to 0.60.</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did not want simulations that merely look plausible, so every model is checked against an analytic result. Sixteen checks, all pass. Cp max below Betz; MPPT gives rated power at 12 m/s; the initial RoCoF matches delta P f0 over 2 H to within 1 percent; the grid-following steady-state frequency matches the droop formula to 1e-10; rotor energy balance closes to 1e-11; the grid-forming swing mode matches the closed-form natural frequency and damping to 2 percent.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is an aggregated model with averaged converters and a DC power-flow network. Step 2 adds the detailed PMSG dq model with machine-side and grid-side converters and the DC link, dual-port grid-forming control from Lyu and Gross, current limiting and fault ride-through, and realistic frequency-measurement windows for the grid-following comparison. Step 3 moves to the IEEE 9-bus system, turbulent wind, a check against the Indian grid-code requirements, and the final report. Thank you, sir.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Base paper is [1] Lyu and Gross 2024 with [3] Yao 2026 for the deloading strategy; [5] for the weak-grid duality; [6] for the secondary-dip problem; [7] to [9] for the models and the course theory; [11] to [15] for the Indian context and standards.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2CA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188720"/>
            <a:ext cx="10698480" cy="2194560"/>
          </a:xfrm>
          <a:prstGeom prst="rect">
            <a:avLst/>
          </a:prstGeom>
          <a:noFill/>
        </p:spPr>
        <p:txBody>
          <a:bodyPr wrap="square" anchor="ctr" lIns="73152" rIns="73152" tIns="36576" bIns="36576">
            <a:spAutoFit/>
          </a:bodyPr>
          <a:lstStyle/>
          <a:p>
            <a:pPr algn="l">
              <a:lnSpc>
                <a:spcPct val="115000"/>
              </a:lnSpc>
            </a:pPr>
            <a:r>
              <a:rPr sz="3400" b="1">
                <a:solidFill>
                  <a:srgbClr val="FFFFFF"/>
                </a:solidFill>
                <a:latin typeface="Calibri"/>
              </a:rPr>
              <a:t>Grid-Forming Control of a PMSG Wind Turbine Using Rotor Kinetic-Energy Reserve for Inertia and Fast Frequency Support in Weak Grids</a:t>
            </a:r>
          </a:p>
        </p:txBody>
      </p:sp>
      <p:sp>
        <p:nvSpPr>
          <p:cNvPr id="5" name="TextBox 4"/>
          <p:cNvSpPr txBox="1"/>
          <p:nvPr/>
        </p:nvSpPr>
        <p:spPr>
          <a:xfrm>
            <a:off x="731520" y="3474720"/>
            <a:ext cx="10698480" cy="914400"/>
          </a:xfrm>
          <a:prstGeom prst="rect">
            <a:avLst/>
          </a:prstGeom>
          <a:noFill/>
        </p:spPr>
        <p:txBody>
          <a:bodyPr wrap="square" anchor="t" lIns="73152" rIns="73152" tIns="36576" bIns="36576">
            <a:spAutoFit/>
          </a:bodyPr>
          <a:lstStyle/>
          <a:p>
            <a:pPr algn="l">
              <a:lnSpc>
                <a:spcPct val="115000"/>
              </a:lnSpc>
            </a:pPr>
            <a:r>
              <a:rPr sz="2200" b="0">
                <a:solidFill>
                  <a:srgbClr val="C9E7C9"/>
                </a:solidFill>
                <a:latin typeface="Calibri"/>
              </a:rPr>
              <a:t>Step 1 Progress Report, Mid-Semester Evaluation</a:t>
            </a:r>
          </a:p>
          <a:p>
            <a:pPr algn="l">
              <a:lnSpc>
                <a:spcPct val="115000"/>
              </a:lnSpc>
            </a:pPr>
            <a:r>
              <a:rPr sz="2000" b="0">
                <a:solidFill>
                  <a:srgbClr val="FFFFFF"/>
                </a:solidFill>
                <a:latin typeface="Calibri"/>
              </a:rPr>
              <a:t>Wind Electrical Systems Design Project</a:t>
            </a:r>
          </a:p>
        </p:txBody>
      </p:sp>
      <p:sp>
        <p:nvSpPr>
          <p:cNvPr id="6" name="TextBox 5"/>
          <p:cNvSpPr txBox="1"/>
          <p:nvPr/>
        </p:nvSpPr>
        <p:spPr>
          <a:xfrm>
            <a:off x="731520" y="4846320"/>
            <a:ext cx="10698480" cy="1280160"/>
          </a:xfrm>
          <a:prstGeom prst="rect">
            <a:avLst/>
          </a:prstGeom>
          <a:noFill/>
        </p:spPr>
        <p:txBody>
          <a:bodyPr wrap="square" anchor="t" lIns="73152" rIns="73152" tIns="36576" bIns="36576">
            <a:spAutoFit/>
          </a:bodyPr>
          <a:lstStyle/>
          <a:p>
            <a:pPr algn="l">
              <a:lnSpc>
                <a:spcPct val="115000"/>
              </a:lnSpc>
            </a:pPr>
            <a:r>
              <a:rPr sz="2000" b="1">
                <a:solidFill>
                  <a:srgbClr val="FFFFFF"/>
                </a:solidFill>
                <a:latin typeface="Calibri"/>
              </a:rPr>
              <a:t>Madhvansh (2023A8PS0561G)</a:t>
            </a:r>
          </a:p>
          <a:p>
            <a:pPr algn="l">
              <a:lnSpc>
                <a:spcPct val="115000"/>
              </a:lnSpc>
            </a:pPr>
            <a:r>
              <a:rPr sz="1600" b="0">
                <a:solidFill>
                  <a:srgbClr val="FFFFFF"/>
                </a:solidFill>
                <a:latin typeface="Calibri"/>
              </a:rPr>
              <a:t>BITS Pilani, K K Birla Goa Campus</a:t>
            </a:r>
          </a:p>
          <a:p>
            <a:pPr algn="l">
              <a:lnSpc>
                <a:spcPct val="115000"/>
              </a:lnSpc>
            </a:pPr>
            <a:r>
              <a:rPr sz="1600" b="0">
                <a:solidFill>
                  <a:srgbClr val="FFFFFF"/>
                </a:solidFill>
                <a:latin typeface="Calibri"/>
              </a:rPr>
              <a:t>13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30000" cy="731520"/>
          </a:xfrm>
          <a:prstGeom prst="rect">
            <a:avLst/>
          </a:prstGeom>
          <a:noFill/>
        </p:spPr>
        <p:txBody>
          <a:bodyPr wrap="square" anchor="ctr" lIns="73152" rIns="73152" tIns="36576" bIns="36576">
            <a:spAutoFit/>
          </a:bodyPr>
          <a:lstStyle/>
          <a:p>
            <a:pPr algn="l">
              <a:lnSpc>
                <a:spcPct val="115000"/>
              </a:lnSpc>
            </a:pPr>
            <a:r>
              <a:rPr sz="2600" b="1">
                <a:solidFill>
                  <a:srgbClr val="FFFFFF"/>
                </a:solidFill>
                <a:latin typeface="Calibri"/>
              </a:rPr>
              <a:t>The problem: converter-interfaced wind gives no inertia, and grid-following control fails in weak grids</a:t>
            </a:r>
          </a:p>
        </p:txBody>
      </p:sp>
      <p:sp>
        <p:nvSpPr>
          <p:cNvPr id="4" name="Rectangle 3"/>
          <p:cNvSpPr/>
          <p:nvPr/>
        </p:nvSpPr>
        <p:spPr>
          <a:xfrm>
            <a:off x="0" y="868680"/>
            <a:ext cx="12191695" cy="54864"/>
          </a:xfrm>
          <a:prstGeom prst="rect">
            <a:avLst/>
          </a:prstGeom>
          <a:solidFill>
            <a:srgbClr val="2CA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6446520"/>
            <a:ext cx="9144000" cy="320040"/>
          </a:xfrm>
          <a:prstGeom prst="rect">
            <a:avLst/>
          </a:prstGeom>
          <a:noFill/>
        </p:spPr>
        <p:txBody>
          <a:bodyPr wrap="square" anchor="t" lIns="73152" rIns="73152" tIns="36576" bIns="36576">
            <a:spAutoFit/>
          </a:bodyPr>
          <a:lstStyle/>
          <a:p>
            <a:pPr algn="l">
              <a:lnSpc>
                <a:spcPct val="115000"/>
              </a:lnSpc>
            </a:pPr>
            <a:r>
              <a:rPr sz="1000" b="0">
                <a:solidFill>
                  <a:srgbClr val="5F6B7A"/>
                </a:solidFill>
                <a:latin typeface="Calibri"/>
              </a:rPr>
              <a:t>Step 1 progress report, Wind Electrical Systems, BITS Goa</a:t>
            </a:r>
          </a:p>
        </p:txBody>
      </p:sp>
      <p:sp>
        <p:nvSpPr>
          <p:cNvPr id="6" name="TextBox 5"/>
          <p:cNvSpPr txBox="1"/>
          <p:nvPr/>
        </p:nvSpPr>
        <p:spPr>
          <a:xfrm>
            <a:off x="11155680" y="6446520"/>
            <a:ext cx="731520" cy="320040"/>
          </a:xfrm>
          <a:prstGeom prst="rect">
            <a:avLst/>
          </a:prstGeom>
          <a:noFill/>
        </p:spPr>
        <p:txBody>
          <a:bodyPr wrap="square" anchor="t" lIns="73152" rIns="73152" tIns="36576" bIns="36576">
            <a:spAutoFit/>
          </a:bodyPr>
          <a:lstStyle/>
          <a:p>
            <a:pPr algn="r">
              <a:lnSpc>
                <a:spcPct val="115000"/>
              </a:lnSpc>
            </a:pPr>
            <a:r>
              <a:rPr sz="1000" b="0">
                <a:solidFill>
                  <a:srgbClr val="5F6B7A"/>
                </a:solidFill>
                <a:latin typeface="Calibri"/>
              </a:rPr>
              <a:t>2</a:t>
            </a:r>
          </a:p>
        </p:txBody>
      </p:sp>
      <p:sp>
        <p:nvSpPr>
          <p:cNvPr id="7" name="TextBox 6"/>
          <p:cNvSpPr txBox="1"/>
          <p:nvPr/>
        </p:nvSpPr>
        <p:spPr>
          <a:xfrm>
            <a:off x="365760" y="1188720"/>
            <a:ext cx="6675120" cy="5029200"/>
          </a:xfrm>
          <a:prstGeom prst="rect">
            <a:avLst/>
          </a:prstGeom>
          <a:noFill/>
        </p:spPr>
        <p:txBody>
          <a:bodyPr wrap="square" anchor="t" lIns="73152" rIns="73152" tIns="36576" bIns="36576">
            <a:spAutoFit/>
          </a:bodyPr>
          <a:lstStyle/>
          <a:p>
            <a:pPr algn="l">
              <a:lnSpc>
                <a:spcPct val="125000"/>
              </a:lnSpc>
            </a:pPr>
            <a:r>
              <a:rPr sz="1700" b="0">
                <a:solidFill>
                  <a:srgbClr val="222222"/>
                </a:solidFill>
                <a:latin typeface="Calibri"/>
              </a:rPr>
              <a:t>•  Today's turbine is grid-following: a PLL measures the grid frequency and the converter injects MPPT power. The rotor's kinetic energy is hidden, so the turbine adds zero inertia.</a:t>
            </a:r>
          </a:p>
          <a:p>
            <a:pPr algn="l">
              <a:lnSpc>
                <a:spcPct val="125000"/>
              </a:lnSpc>
            </a:pPr>
            <a:r>
              <a:rPr sz="1700" b="0">
                <a:solidFill>
                  <a:srgbClr val="222222"/>
                </a:solidFill>
                <a:latin typeface="Calibri"/>
              </a:rPr>
              <a:t>•  In a weak grid the PLL tracks a voltage that the converter itself disturbs, and it can lose synchronism.</a:t>
            </a:r>
          </a:p>
          <a:p>
            <a:pPr algn="l">
              <a:lnSpc>
                <a:spcPct val="125000"/>
              </a:lnSpc>
            </a:pPr>
            <a:r>
              <a:rPr sz="1700" b="0">
                <a:solidFill>
                  <a:srgbClr val="222222"/>
                </a:solidFill>
                <a:latin typeface="Calibri"/>
              </a:rPr>
              <a:t>•  GRID-INDIA's discussion paper on grid-forming inverters (Feb 2026) recommends GFM capability but treats BESS and solar in detail and says little about wind.</a:t>
            </a:r>
          </a:p>
          <a:p>
            <a:pPr algn="l">
              <a:lnSpc>
                <a:spcPct val="125000"/>
              </a:lnSpc>
            </a:pPr>
            <a:r>
              <a:rPr sz="1700" b="1">
                <a:solidFill>
                  <a:srgbClr val="1F3A5F"/>
                </a:solidFill>
                <a:latin typeface="Calibri"/>
              </a:rPr>
              <a:t>•  This project: make the wind turbine itself grid-forming, with its reserve and inertia coming from the rotor, not from a battery.</a:t>
            </a:r>
          </a:p>
        </p:txBody>
      </p:sp>
      <p:sp>
        <p:nvSpPr>
          <p:cNvPr id="8" name="Rounded Rectangle 7"/>
          <p:cNvSpPr/>
          <p:nvPr/>
        </p:nvSpPr>
        <p:spPr>
          <a:xfrm>
            <a:off x="7406640" y="1280160"/>
            <a:ext cx="4389120" cy="146304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06640" y="1371600"/>
            <a:ext cx="4389120" cy="804672"/>
          </a:xfrm>
          <a:prstGeom prst="rect">
            <a:avLst/>
          </a:prstGeom>
          <a:noFill/>
        </p:spPr>
        <p:txBody>
          <a:bodyPr wrap="square" anchor="ctr" lIns="73152" rIns="73152" tIns="36576" bIns="36576">
            <a:spAutoFit/>
          </a:bodyPr>
          <a:lstStyle/>
          <a:p>
            <a:pPr algn="ctr">
              <a:lnSpc>
                <a:spcPct val="115000"/>
              </a:lnSpc>
            </a:pPr>
            <a:r>
              <a:rPr sz="2600" b="1">
                <a:solidFill>
                  <a:srgbClr val="1F3A5F"/>
                </a:solidFill>
                <a:latin typeface="Calibri"/>
              </a:rPr>
              <a:t>54 GW</a:t>
            </a:r>
          </a:p>
        </p:txBody>
      </p:sp>
      <p:sp>
        <p:nvSpPr>
          <p:cNvPr id="10" name="TextBox 9"/>
          <p:cNvSpPr txBox="1"/>
          <p:nvPr/>
        </p:nvSpPr>
        <p:spPr>
          <a:xfrm>
            <a:off x="7406640" y="2084832"/>
            <a:ext cx="4389120" cy="614476"/>
          </a:xfrm>
          <a:prstGeom prst="rect">
            <a:avLst/>
          </a:prstGeom>
          <a:noFill/>
        </p:spPr>
        <p:txBody>
          <a:bodyPr wrap="square" anchor="t" lIns="73152" rIns="73152" tIns="36576" bIns="36576">
            <a:spAutoFit/>
          </a:bodyPr>
          <a:lstStyle/>
          <a:p>
            <a:pPr algn="ctr">
              <a:lnSpc>
                <a:spcPct val="115000"/>
              </a:lnSpc>
            </a:pPr>
            <a:r>
              <a:rPr sz="1300" b="0">
                <a:solidFill>
                  <a:srgbClr val="5F6B7A"/>
                </a:solidFill>
                <a:latin typeface="Calibri"/>
              </a:rPr>
              <a:t>wind installed in India by late 2025</a:t>
            </a:r>
          </a:p>
        </p:txBody>
      </p:sp>
      <p:sp>
        <p:nvSpPr>
          <p:cNvPr id="11" name="Rounded Rectangle 10"/>
          <p:cNvSpPr/>
          <p:nvPr/>
        </p:nvSpPr>
        <p:spPr>
          <a:xfrm>
            <a:off x="7406640" y="2926080"/>
            <a:ext cx="4389120" cy="146304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06640" y="3017520"/>
            <a:ext cx="4389120" cy="804672"/>
          </a:xfrm>
          <a:prstGeom prst="rect">
            <a:avLst/>
          </a:prstGeom>
          <a:noFill/>
        </p:spPr>
        <p:txBody>
          <a:bodyPr wrap="square" anchor="ctr" lIns="73152" rIns="73152" tIns="36576" bIns="36576">
            <a:spAutoFit/>
          </a:bodyPr>
          <a:lstStyle/>
          <a:p>
            <a:pPr algn="ctr">
              <a:lnSpc>
                <a:spcPct val="115000"/>
              </a:lnSpc>
            </a:pPr>
            <a:r>
              <a:rPr sz="2600" b="1">
                <a:solidFill>
                  <a:srgbClr val="D62728"/>
                </a:solidFill>
                <a:latin typeface="Calibri"/>
              </a:rPr>
              <a:t>68 events</a:t>
            </a:r>
          </a:p>
        </p:txBody>
      </p:sp>
      <p:sp>
        <p:nvSpPr>
          <p:cNvPr id="13" name="TextBox 12"/>
          <p:cNvSpPr txBox="1"/>
          <p:nvPr/>
        </p:nvSpPr>
        <p:spPr>
          <a:xfrm>
            <a:off x="7406640" y="3730752"/>
            <a:ext cx="4389120" cy="614476"/>
          </a:xfrm>
          <a:prstGeom prst="rect">
            <a:avLst/>
          </a:prstGeom>
          <a:noFill/>
        </p:spPr>
        <p:txBody>
          <a:bodyPr wrap="square" anchor="t" lIns="73152" rIns="73152" tIns="36576" bIns="36576">
            <a:spAutoFit/>
          </a:bodyPr>
          <a:lstStyle/>
          <a:p>
            <a:pPr algn="ctr">
              <a:lnSpc>
                <a:spcPct val="115000"/>
              </a:lnSpc>
            </a:pPr>
            <a:r>
              <a:rPr sz="1300" b="0">
                <a:solidFill>
                  <a:srgbClr val="5F6B7A"/>
                </a:solidFill>
                <a:latin typeface="Calibri"/>
              </a:rPr>
              <a:t>more than 1 GW of renewables lost in a single incident, Jan 2022 to Jul 2025 (Ember); PLL instability under weak-grid conditions, Rajasthan hubs</a:t>
            </a:r>
          </a:p>
        </p:txBody>
      </p:sp>
      <p:sp>
        <p:nvSpPr>
          <p:cNvPr id="14" name="Rounded Rectangle 13"/>
          <p:cNvSpPr/>
          <p:nvPr/>
        </p:nvSpPr>
        <p:spPr>
          <a:xfrm>
            <a:off x="7406640" y="4572000"/>
            <a:ext cx="4389120" cy="146304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06640" y="4663440"/>
            <a:ext cx="4389120" cy="804672"/>
          </a:xfrm>
          <a:prstGeom prst="rect">
            <a:avLst/>
          </a:prstGeom>
          <a:noFill/>
        </p:spPr>
        <p:txBody>
          <a:bodyPr wrap="square" anchor="ctr" lIns="73152" rIns="73152" tIns="36576" bIns="36576">
            <a:spAutoFit/>
          </a:bodyPr>
          <a:lstStyle/>
          <a:p>
            <a:pPr algn="ctr">
              <a:lnSpc>
                <a:spcPct val="115000"/>
              </a:lnSpc>
            </a:pPr>
            <a:r>
              <a:rPr sz="2600" b="1">
                <a:solidFill>
                  <a:srgbClr val="1F3A5F"/>
                </a:solidFill>
                <a:latin typeface="Calibri"/>
              </a:rPr>
              <a:t>1 Apr 2027</a:t>
            </a:r>
          </a:p>
        </p:txBody>
      </p:sp>
      <p:sp>
        <p:nvSpPr>
          <p:cNvPr id="16" name="TextBox 15"/>
          <p:cNvSpPr txBox="1"/>
          <p:nvPr/>
        </p:nvSpPr>
        <p:spPr>
          <a:xfrm>
            <a:off x="7406640" y="5376672"/>
            <a:ext cx="4389120" cy="614476"/>
          </a:xfrm>
          <a:prstGeom prst="rect">
            <a:avLst/>
          </a:prstGeom>
          <a:noFill/>
        </p:spPr>
        <p:txBody>
          <a:bodyPr wrap="square" anchor="t" lIns="73152" rIns="73152" tIns="36576" bIns="36576">
            <a:spAutoFit/>
          </a:bodyPr>
          <a:lstStyle/>
          <a:p>
            <a:pPr algn="ctr">
              <a:lnSpc>
                <a:spcPct val="115000"/>
              </a:lnSpc>
            </a:pPr>
            <a:r>
              <a:rPr sz="1300" b="0">
                <a:solidFill>
                  <a:srgbClr val="5F6B7A"/>
                </a:solidFill>
                <a:latin typeface="Calibri"/>
              </a:rPr>
              <a:t>CEA technical-standards amendment 2026 takes effect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30000" cy="731520"/>
          </a:xfrm>
          <a:prstGeom prst="rect">
            <a:avLst/>
          </a:prstGeom>
          <a:noFill/>
        </p:spPr>
        <p:txBody>
          <a:bodyPr wrap="square" anchor="ctr" lIns="73152" rIns="73152" tIns="36576" bIns="36576">
            <a:spAutoFit/>
          </a:bodyPr>
          <a:lstStyle/>
          <a:p>
            <a:pPr algn="l">
              <a:lnSpc>
                <a:spcPct val="115000"/>
              </a:lnSpc>
            </a:pPr>
            <a:r>
              <a:rPr sz="2600" b="1">
                <a:solidFill>
                  <a:srgbClr val="FFFFFF"/>
                </a:solidFill>
                <a:latin typeface="Calibri"/>
              </a:rPr>
              <a:t>Link to the course: Betz, the Cp-lambda curve and the Cp-optimal line</a:t>
            </a:r>
          </a:p>
        </p:txBody>
      </p:sp>
      <p:sp>
        <p:nvSpPr>
          <p:cNvPr id="4" name="Rectangle 3"/>
          <p:cNvSpPr/>
          <p:nvPr/>
        </p:nvSpPr>
        <p:spPr>
          <a:xfrm>
            <a:off x="0" y="868680"/>
            <a:ext cx="12191695" cy="54864"/>
          </a:xfrm>
          <a:prstGeom prst="rect">
            <a:avLst/>
          </a:prstGeom>
          <a:solidFill>
            <a:srgbClr val="2CA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6446520"/>
            <a:ext cx="9144000" cy="320040"/>
          </a:xfrm>
          <a:prstGeom prst="rect">
            <a:avLst/>
          </a:prstGeom>
          <a:noFill/>
        </p:spPr>
        <p:txBody>
          <a:bodyPr wrap="square" anchor="t" lIns="73152" rIns="73152" tIns="36576" bIns="36576">
            <a:spAutoFit/>
          </a:bodyPr>
          <a:lstStyle/>
          <a:p>
            <a:pPr algn="l">
              <a:lnSpc>
                <a:spcPct val="115000"/>
              </a:lnSpc>
            </a:pPr>
            <a:r>
              <a:rPr sz="1000" b="0">
                <a:solidFill>
                  <a:srgbClr val="5F6B7A"/>
                </a:solidFill>
                <a:latin typeface="Calibri"/>
              </a:rPr>
              <a:t>Step 1 progress report, Wind Electrical Systems, BITS Goa</a:t>
            </a:r>
          </a:p>
        </p:txBody>
      </p:sp>
      <p:sp>
        <p:nvSpPr>
          <p:cNvPr id="6" name="TextBox 5"/>
          <p:cNvSpPr txBox="1"/>
          <p:nvPr/>
        </p:nvSpPr>
        <p:spPr>
          <a:xfrm>
            <a:off x="11155680" y="6446520"/>
            <a:ext cx="731520" cy="320040"/>
          </a:xfrm>
          <a:prstGeom prst="rect">
            <a:avLst/>
          </a:prstGeom>
          <a:noFill/>
        </p:spPr>
        <p:txBody>
          <a:bodyPr wrap="square" anchor="t" lIns="73152" rIns="73152" tIns="36576" bIns="36576">
            <a:spAutoFit/>
          </a:bodyPr>
          <a:lstStyle/>
          <a:p>
            <a:pPr algn="r">
              <a:lnSpc>
                <a:spcPct val="115000"/>
              </a:lnSpc>
            </a:pPr>
            <a:r>
              <a:rPr sz="1000" b="0">
                <a:solidFill>
                  <a:srgbClr val="5F6B7A"/>
                </a:solidFill>
                <a:latin typeface="Calibri"/>
              </a:rPr>
              <a:t>3</a:t>
            </a:r>
          </a:p>
        </p:txBody>
      </p:sp>
      <p:sp>
        <p:nvSpPr>
          <p:cNvPr id="7" name="TextBox 6"/>
          <p:cNvSpPr txBox="1"/>
          <p:nvPr/>
        </p:nvSpPr>
        <p:spPr>
          <a:xfrm>
            <a:off x="365760" y="1188720"/>
            <a:ext cx="5120640" cy="5120640"/>
          </a:xfrm>
          <a:prstGeom prst="rect">
            <a:avLst/>
          </a:prstGeom>
          <a:noFill/>
        </p:spPr>
        <p:txBody>
          <a:bodyPr wrap="square" anchor="t" lIns="73152" rIns="73152" tIns="36576" bIns="36576">
            <a:spAutoFit/>
          </a:bodyPr>
          <a:lstStyle/>
          <a:p>
            <a:pPr algn="l">
              <a:lnSpc>
                <a:spcPct val="125000"/>
              </a:lnSpc>
            </a:pPr>
            <a:r>
              <a:rPr sz="1700" b="0">
                <a:solidFill>
                  <a:srgbClr val="222222"/>
                </a:solidFill>
                <a:latin typeface="Calibri"/>
              </a:rPr>
              <a:t>•  Power in the wind: P = ½ ρ A v³. Betz limit 16/27 = 0.593.</a:t>
            </a:r>
          </a:p>
          <a:p>
            <a:pPr algn="l">
              <a:lnSpc>
                <a:spcPct val="125000"/>
              </a:lnSpc>
            </a:pPr>
            <a:r>
              <a:rPr sz="1700" b="0">
                <a:solidFill>
                  <a:srgbClr val="222222"/>
                </a:solidFill>
                <a:latin typeface="Calibri"/>
              </a:rPr>
              <a:t>•  Heier model Cp(λ, β) for the 2 MW turbine: Cp,max = 0.480 at λ_opt = 8.10, 81 percent of Betz (drag, tip loss, wake rotation).</a:t>
            </a:r>
          </a:p>
          <a:p>
            <a:pPr algn="l">
              <a:lnSpc>
                <a:spcPct val="125000"/>
              </a:lnSpc>
            </a:pPr>
            <a:r>
              <a:rPr sz="1700" b="0">
                <a:solidFill>
                  <a:srgbClr val="222222"/>
                </a:solidFill>
                <a:latin typeface="Calibri"/>
              </a:rPr>
              <a:t>•  MPPT = staying on the peak, the Cp-optimal line: P = K_opt ω³ with K_opt = 96.6 kW/(rad/s)³.</a:t>
            </a:r>
          </a:p>
          <a:p>
            <a:pPr algn="l">
              <a:lnSpc>
                <a:spcPct val="125000"/>
              </a:lnSpc>
            </a:pPr>
            <a:r>
              <a:rPr sz="1700" b="0">
                <a:solidFill>
                  <a:srgbClr val="222222"/>
                </a:solidFill>
                <a:latin typeface="Calibri"/>
              </a:rPr>
              <a:t>•  Course control strategies used here: pitch control (mechanical power) and controlling the electrical power through the power-electronic interface.</a:t>
            </a:r>
          </a:p>
          <a:p>
            <a:pPr algn="l">
              <a:lnSpc>
                <a:spcPct val="125000"/>
              </a:lnSpc>
            </a:pPr>
            <a:r>
              <a:rPr sz="1500" b="0">
                <a:solidFill>
                  <a:srgbClr val="5F6B7A"/>
                </a:solidFill>
                <a:latin typeface="Calibri"/>
              </a:rPr>
              <a:t>•  Turbine: R = 35.4 m, 2 MW at 12 m/s and 26.2 rpm, H = 3 s, speed limits 0.5 to 1.2 pu.</a:t>
            </a:r>
          </a:p>
        </p:txBody>
      </p:sp>
      <p:pic>
        <p:nvPicPr>
          <p:cNvPr id="8" name="Picture 7" descr="A1_cp_curves.png"/>
          <p:cNvPicPr>
            <a:picLocks noChangeAspect="1"/>
          </p:cNvPicPr>
          <p:nvPr/>
        </p:nvPicPr>
        <p:blipFill>
          <a:blip r:embed="rId3"/>
          <a:stretch>
            <a:fillRect/>
          </a:stretch>
        </p:blipFill>
        <p:spPr>
          <a:xfrm>
            <a:off x="5669280" y="1759639"/>
            <a:ext cx="6309360" cy="3887362"/>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30000" cy="731520"/>
          </a:xfrm>
          <a:prstGeom prst="rect">
            <a:avLst/>
          </a:prstGeom>
          <a:noFill/>
        </p:spPr>
        <p:txBody>
          <a:bodyPr wrap="square" anchor="ctr" lIns="73152" rIns="73152" tIns="36576" bIns="36576">
            <a:spAutoFit/>
          </a:bodyPr>
          <a:lstStyle/>
          <a:p>
            <a:pPr algn="l">
              <a:lnSpc>
                <a:spcPct val="115000"/>
              </a:lnSpc>
            </a:pPr>
            <a:r>
              <a:rPr sz="2600" b="1">
                <a:solidFill>
                  <a:srgbClr val="FFFFFF"/>
                </a:solidFill>
                <a:latin typeface="Calibri"/>
              </a:rPr>
              <a:t>Key idea: operate off the Cp-optimal line, on the overspeed side</a:t>
            </a:r>
          </a:p>
        </p:txBody>
      </p:sp>
      <p:sp>
        <p:nvSpPr>
          <p:cNvPr id="4" name="Rectangle 3"/>
          <p:cNvSpPr/>
          <p:nvPr/>
        </p:nvSpPr>
        <p:spPr>
          <a:xfrm>
            <a:off x="0" y="868680"/>
            <a:ext cx="12191695" cy="54864"/>
          </a:xfrm>
          <a:prstGeom prst="rect">
            <a:avLst/>
          </a:prstGeom>
          <a:solidFill>
            <a:srgbClr val="2CA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6446520"/>
            <a:ext cx="9144000" cy="320040"/>
          </a:xfrm>
          <a:prstGeom prst="rect">
            <a:avLst/>
          </a:prstGeom>
          <a:noFill/>
        </p:spPr>
        <p:txBody>
          <a:bodyPr wrap="square" anchor="t" lIns="73152" rIns="73152" tIns="36576" bIns="36576">
            <a:spAutoFit/>
          </a:bodyPr>
          <a:lstStyle/>
          <a:p>
            <a:pPr algn="l">
              <a:lnSpc>
                <a:spcPct val="115000"/>
              </a:lnSpc>
            </a:pPr>
            <a:r>
              <a:rPr sz="1000" b="0">
                <a:solidFill>
                  <a:srgbClr val="5F6B7A"/>
                </a:solidFill>
                <a:latin typeface="Calibri"/>
              </a:rPr>
              <a:t>Step 1 progress report, Wind Electrical Systems, BITS Goa</a:t>
            </a:r>
          </a:p>
        </p:txBody>
      </p:sp>
      <p:sp>
        <p:nvSpPr>
          <p:cNvPr id="6" name="TextBox 5"/>
          <p:cNvSpPr txBox="1"/>
          <p:nvPr/>
        </p:nvSpPr>
        <p:spPr>
          <a:xfrm>
            <a:off x="11155680" y="6446520"/>
            <a:ext cx="731520" cy="320040"/>
          </a:xfrm>
          <a:prstGeom prst="rect">
            <a:avLst/>
          </a:prstGeom>
          <a:noFill/>
        </p:spPr>
        <p:txBody>
          <a:bodyPr wrap="square" anchor="t" lIns="73152" rIns="73152" tIns="36576" bIns="36576">
            <a:spAutoFit/>
          </a:bodyPr>
          <a:lstStyle/>
          <a:p>
            <a:pPr algn="r">
              <a:lnSpc>
                <a:spcPct val="115000"/>
              </a:lnSpc>
            </a:pPr>
            <a:r>
              <a:rPr sz="1000" b="0">
                <a:solidFill>
                  <a:srgbClr val="5F6B7A"/>
                </a:solidFill>
                <a:latin typeface="Calibri"/>
              </a:rPr>
              <a:t>4</a:t>
            </a:r>
          </a:p>
        </p:txBody>
      </p:sp>
      <p:pic>
        <p:nvPicPr>
          <p:cNvPr id="7" name="Picture 6" descr="A2_power_speed.png"/>
          <p:cNvPicPr>
            <a:picLocks noChangeAspect="1"/>
          </p:cNvPicPr>
          <p:nvPr/>
        </p:nvPicPr>
        <p:blipFill>
          <a:blip r:embed="rId3"/>
          <a:stretch>
            <a:fillRect/>
          </a:stretch>
        </p:blipFill>
        <p:spPr>
          <a:xfrm>
            <a:off x="274320" y="1128414"/>
            <a:ext cx="7680960" cy="5149811"/>
          </a:xfrm>
          <a:prstGeom prst="rect">
            <a:avLst/>
          </a:prstGeom>
        </p:spPr>
      </p:pic>
      <p:sp>
        <p:nvSpPr>
          <p:cNvPr id="8" name="Rounded Rectangle 7"/>
          <p:cNvSpPr/>
          <p:nvPr/>
        </p:nvSpPr>
        <p:spPr>
          <a:xfrm>
            <a:off x="8138160" y="1280160"/>
            <a:ext cx="3749039" cy="4846320"/>
          </a:xfrm>
          <a:prstGeom prst="roundRect">
            <a:avLst>
              <a:gd name="adj" fmla="val 6000"/>
            </a:avLst>
          </a:prstGeom>
          <a:solidFill>
            <a:srgbClr val="F2F4F7"/>
          </a:solidFill>
          <a:ln w="12700">
            <a:solidFill>
              <a:srgbClr val="2CA02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lnSpc>
                <a:spcPct val="115000"/>
              </a:lnSpc>
            </a:pPr>
            <a:r>
              <a:rPr sz="1700" b="1">
                <a:solidFill>
                  <a:srgbClr val="1F3A5F"/>
                </a:solidFill>
                <a:latin typeface="Calibri"/>
              </a:rPr>
              <a:t>At 9 m/s</a:t>
            </a:r>
          </a:p>
          <a:p>
            <a:pPr algn="l">
              <a:lnSpc>
                <a:spcPct val="115000"/>
              </a:lnSpc>
            </a:pPr>
            <a:r>
              <a:rPr sz="1500" b="0">
                <a:solidFill>
                  <a:srgbClr val="222222"/>
                </a:solidFill>
                <a:latin typeface="Calibri"/>
              </a:rPr>
              <a:t>MPPT: 844 kW at 19.7 rpm</a:t>
            </a:r>
          </a:p>
          <a:p>
            <a:pPr algn="l">
              <a:lnSpc>
                <a:spcPct val="115000"/>
              </a:lnSpc>
            </a:pPr>
            <a:r>
              <a:rPr sz="1500" b="0">
                <a:solidFill>
                  <a:srgbClr val="222222"/>
                </a:solidFill>
                <a:latin typeface="Calibri"/>
              </a:rPr>
              <a:t>Deloaded 10 percent: 759 kW at 23.3 rpm, pitch 0 deg</a:t>
            </a:r>
          </a:p>
          <a:p>
            <a:pPr algn="l">
              <a:lnSpc>
                <a:spcPct val="115000"/>
              </a:lnSpc>
            </a:pPr>
            <a:r>
              <a:rPr sz="1500" b="0">
                <a:solidFill>
                  <a:srgbClr val="222222"/>
                </a:solidFill>
                <a:latin typeface="Calibri"/>
              </a:rPr>
              <a:t>Reserve: 84 kW per turbine</a:t>
            </a:r>
          </a:p>
          <a:p>
            <a:pPr algn="l">
              <a:lnSpc>
                <a:spcPct val="115000"/>
              </a:lnSpc>
            </a:pPr>
            <a:r>
              <a:rPr sz="1700" b="1">
                <a:solidFill>
                  <a:srgbClr val="1F3A5F"/>
                </a:solidFill>
                <a:latin typeface="Calibri"/>
              </a:rPr>
              <a:t>Why the overspeed side</a:t>
            </a:r>
          </a:p>
          <a:p>
            <a:pPr algn="l">
              <a:lnSpc>
                <a:spcPct val="115000"/>
              </a:lnSpc>
            </a:pPr>
            <a:r>
              <a:rPr sz="1500" b="0">
                <a:solidFill>
                  <a:srgbClr val="222222"/>
                </a:solidFill>
                <a:latin typeface="Calibri"/>
              </a:rPr>
              <a:t>When the converter draws more power the rotor slows toward the peak, so Cp RISES and aerodynamic power increases while the grid needs it.</a:t>
            </a:r>
          </a:p>
          <a:p>
            <a:pPr algn="l">
              <a:lnSpc>
                <a:spcPct val="115000"/>
              </a:lnSpc>
            </a:pPr>
            <a:r>
              <a:rPr sz="1500" b="0">
                <a:solidFill>
                  <a:srgbClr val="222222"/>
                </a:solidFill>
                <a:latin typeface="Calibri"/>
              </a:rPr>
              <a:t>Kinetic energy and reserve are released together: no secondary dip.</a:t>
            </a:r>
          </a:p>
          <a:p>
            <a:pPr algn="l">
              <a:lnSpc>
                <a:spcPct val="115000"/>
              </a:lnSpc>
            </a:pPr>
            <a:r>
              <a:rPr sz="1300" b="0">
                <a:solidFill>
                  <a:srgbClr val="5F6B7A"/>
                </a:solidFill>
                <a:latin typeface="Calibri"/>
              </a:rPr>
              <a:t>Above 12 m/s the 1.2 pu speed limit binds and pitch does the deloading (1.18 deg at 12 m/s, 8.5 deg at 14 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30000" cy="731520"/>
          </a:xfrm>
          <a:prstGeom prst="rect">
            <a:avLst/>
          </a:prstGeom>
          <a:noFill/>
        </p:spPr>
        <p:txBody>
          <a:bodyPr wrap="square" anchor="ctr" lIns="73152" rIns="73152" tIns="36576" bIns="36576">
            <a:spAutoFit/>
          </a:bodyPr>
          <a:lstStyle/>
          <a:p>
            <a:pPr algn="l">
              <a:lnSpc>
                <a:spcPct val="115000"/>
              </a:lnSpc>
            </a:pPr>
            <a:r>
              <a:rPr sz="2600" b="1">
                <a:solidFill>
                  <a:srgbClr val="FFFFFF"/>
                </a:solidFill>
                <a:latin typeface="Calibri"/>
              </a:rPr>
              <a:t>What the reserve buys: power headroom plus stored kinetic energy</a:t>
            </a:r>
          </a:p>
        </p:txBody>
      </p:sp>
      <p:sp>
        <p:nvSpPr>
          <p:cNvPr id="4" name="Rectangle 3"/>
          <p:cNvSpPr/>
          <p:nvPr/>
        </p:nvSpPr>
        <p:spPr>
          <a:xfrm>
            <a:off x="0" y="868680"/>
            <a:ext cx="12191695" cy="54864"/>
          </a:xfrm>
          <a:prstGeom prst="rect">
            <a:avLst/>
          </a:prstGeom>
          <a:solidFill>
            <a:srgbClr val="2CA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6446520"/>
            <a:ext cx="9144000" cy="320040"/>
          </a:xfrm>
          <a:prstGeom prst="rect">
            <a:avLst/>
          </a:prstGeom>
          <a:noFill/>
        </p:spPr>
        <p:txBody>
          <a:bodyPr wrap="square" anchor="t" lIns="73152" rIns="73152" tIns="36576" bIns="36576">
            <a:spAutoFit/>
          </a:bodyPr>
          <a:lstStyle/>
          <a:p>
            <a:pPr algn="l">
              <a:lnSpc>
                <a:spcPct val="115000"/>
              </a:lnSpc>
            </a:pPr>
            <a:r>
              <a:rPr sz="1000" b="0">
                <a:solidFill>
                  <a:srgbClr val="5F6B7A"/>
                </a:solidFill>
                <a:latin typeface="Calibri"/>
              </a:rPr>
              <a:t>Step 1 progress report, Wind Electrical Systems, BITS Goa</a:t>
            </a:r>
          </a:p>
        </p:txBody>
      </p:sp>
      <p:sp>
        <p:nvSpPr>
          <p:cNvPr id="6" name="TextBox 5"/>
          <p:cNvSpPr txBox="1"/>
          <p:nvPr/>
        </p:nvSpPr>
        <p:spPr>
          <a:xfrm>
            <a:off x="11155680" y="6446520"/>
            <a:ext cx="731520" cy="320040"/>
          </a:xfrm>
          <a:prstGeom prst="rect">
            <a:avLst/>
          </a:prstGeom>
          <a:noFill/>
        </p:spPr>
        <p:txBody>
          <a:bodyPr wrap="square" anchor="t" lIns="73152" rIns="73152" tIns="36576" bIns="36576">
            <a:spAutoFit/>
          </a:bodyPr>
          <a:lstStyle/>
          <a:p>
            <a:pPr algn="r">
              <a:lnSpc>
                <a:spcPct val="115000"/>
              </a:lnSpc>
            </a:pPr>
            <a:r>
              <a:rPr sz="1000" b="0">
                <a:solidFill>
                  <a:srgbClr val="5F6B7A"/>
                </a:solidFill>
                <a:latin typeface="Calibri"/>
              </a:rPr>
              <a:t>5</a:t>
            </a:r>
          </a:p>
        </p:txBody>
      </p:sp>
      <p:pic>
        <p:nvPicPr>
          <p:cNvPr id="7" name="Picture 6" descr="A4_reserve.png"/>
          <p:cNvPicPr>
            <a:picLocks noChangeAspect="1"/>
          </p:cNvPicPr>
          <p:nvPr/>
        </p:nvPicPr>
        <p:blipFill>
          <a:blip r:embed="rId3"/>
          <a:stretch>
            <a:fillRect/>
          </a:stretch>
        </p:blipFill>
        <p:spPr>
          <a:xfrm>
            <a:off x="465017" y="1051560"/>
            <a:ext cx="6842365" cy="5303520"/>
          </a:xfrm>
          <a:prstGeom prst="rect">
            <a:avLst/>
          </a:prstGeom>
        </p:spPr>
      </p:pic>
      <p:sp>
        <p:nvSpPr>
          <p:cNvPr id="8" name="Rounded Rectangle 7"/>
          <p:cNvSpPr/>
          <p:nvPr/>
        </p:nvSpPr>
        <p:spPr>
          <a:xfrm>
            <a:off x="7772400" y="1188720"/>
            <a:ext cx="4114800" cy="114300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0" y="1280160"/>
            <a:ext cx="4114800" cy="628650"/>
          </a:xfrm>
          <a:prstGeom prst="rect">
            <a:avLst/>
          </a:prstGeom>
          <a:noFill/>
        </p:spPr>
        <p:txBody>
          <a:bodyPr wrap="square" anchor="ctr" lIns="73152" rIns="73152" tIns="36576" bIns="36576">
            <a:spAutoFit/>
          </a:bodyPr>
          <a:lstStyle/>
          <a:p>
            <a:pPr algn="ctr">
              <a:lnSpc>
                <a:spcPct val="115000"/>
              </a:lnSpc>
            </a:pPr>
            <a:r>
              <a:rPr sz="2600" b="1">
                <a:solidFill>
                  <a:srgbClr val="1F3A5F"/>
                </a:solidFill>
                <a:latin typeface="Calibri"/>
              </a:rPr>
              <a:t>25 → 200 kW</a:t>
            </a:r>
          </a:p>
        </p:txBody>
      </p:sp>
      <p:sp>
        <p:nvSpPr>
          <p:cNvPr id="10" name="TextBox 9"/>
          <p:cNvSpPr txBox="1"/>
          <p:nvPr/>
        </p:nvSpPr>
        <p:spPr>
          <a:xfrm>
            <a:off x="7772400" y="1817370"/>
            <a:ext cx="4114800" cy="480060"/>
          </a:xfrm>
          <a:prstGeom prst="rect">
            <a:avLst/>
          </a:prstGeom>
          <a:noFill/>
        </p:spPr>
        <p:txBody>
          <a:bodyPr wrap="square" anchor="t" lIns="73152" rIns="73152" tIns="36576" bIns="36576">
            <a:spAutoFit/>
          </a:bodyPr>
          <a:lstStyle/>
          <a:p>
            <a:pPr algn="ctr">
              <a:lnSpc>
                <a:spcPct val="115000"/>
              </a:lnSpc>
            </a:pPr>
            <a:r>
              <a:rPr sz="1300" b="0">
                <a:solidFill>
                  <a:srgbClr val="5F6B7A"/>
                </a:solidFill>
                <a:latin typeface="Calibri"/>
              </a:rPr>
              <a:t>reserve per turbine, 6 m/s to rated (84 kW at 9 m/s)</a:t>
            </a:r>
          </a:p>
        </p:txBody>
      </p:sp>
      <p:sp>
        <p:nvSpPr>
          <p:cNvPr id="11" name="Rounded Rectangle 10"/>
          <p:cNvSpPr/>
          <p:nvPr/>
        </p:nvSpPr>
        <p:spPr>
          <a:xfrm>
            <a:off x="7772400" y="2468880"/>
            <a:ext cx="4114800" cy="114300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0" y="2560320"/>
            <a:ext cx="4114800" cy="628650"/>
          </a:xfrm>
          <a:prstGeom prst="rect">
            <a:avLst/>
          </a:prstGeom>
          <a:noFill/>
        </p:spPr>
        <p:txBody>
          <a:bodyPr wrap="square" anchor="ctr" lIns="73152" rIns="73152" tIns="36576" bIns="36576">
            <a:spAutoFit/>
          </a:bodyPr>
          <a:lstStyle/>
          <a:p>
            <a:pPr algn="ctr">
              <a:lnSpc>
                <a:spcPct val="115000"/>
              </a:lnSpc>
            </a:pPr>
            <a:r>
              <a:rPr sz="2600" b="1">
                <a:solidFill>
                  <a:srgbClr val="2CA02C"/>
                </a:solidFill>
                <a:latin typeface="Calibri"/>
              </a:rPr>
              <a:t>1.36 MJ / 3.23 MJ</a:t>
            </a:r>
          </a:p>
        </p:txBody>
      </p:sp>
      <p:sp>
        <p:nvSpPr>
          <p:cNvPr id="13" name="TextBox 12"/>
          <p:cNvSpPr txBox="1"/>
          <p:nvPr/>
        </p:nvSpPr>
        <p:spPr>
          <a:xfrm>
            <a:off x="7772400" y="3097530"/>
            <a:ext cx="4114800" cy="480060"/>
          </a:xfrm>
          <a:prstGeom prst="rect">
            <a:avLst/>
          </a:prstGeom>
          <a:noFill/>
        </p:spPr>
        <p:txBody>
          <a:bodyPr wrap="square" anchor="t" lIns="73152" rIns="73152" tIns="36576" bIns="36576">
            <a:spAutoFit/>
          </a:bodyPr>
          <a:lstStyle/>
          <a:p>
            <a:pPr algn="ctr">
              <a:lnSpc>
                <a:spcPct val="115000"/>
              </a:lnSpc>
            </a:pPr>
            <a:r>
              <a:rPr sz="1300" b="0">
                <a:solidFill>
                  <a:srgbClr val="5F6B7A"/>
                </a:solidFill>
                <a:latin typeface="Calibri"/>
              </a:rPr>
              <a:t>kinetic energy releasable at 9 m/s: to MPPT speed / to 0.5 pu (H_eq 0.68 s / 1.62 s)</a:t>
            </a:r>
          </a:p>
        </p:txBody>
      </p:sp>
      <p:sp>
        <p:nvSpPr>
          <p:cNvPr id="14" name="Rounded Rectangle 13"/>
          <p:cNvSpPr/>
          <p:nvPr/>
        </p:nvSpPr>
        <p:spPr>
          <a:xfrm>
            <a:off x="7772400" y="3749039"/>
            <a:ext cx="4114800" cy="114300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0" y="3840479"/>
            <a:ext cx="4114800" cy="628650"/>
          </a:xfrm>
          <a:prstGeom prst="rect">
            <a:avLst/>
          </a:prstGeom>
          <a:noFill/>
        </p:spPr>
        <p:txBody>
          <a:bodyPr wrap="square" anchor="ctr" lIns="73152" rIns="73152" tIns="36576" bIns="36576">
            <a:spAutoFit/>
          </a:bodyPr>
          <a:lstStyle/>
          <a:p>
            <a:pPr algn="ctr">
              <a:lnSpc>
                <a:spcPct val="115000"/>
              </a:lnSpc>
            </a:pPr>
            <a:r>
              <a:rPr sz="2600" b="1">
                <a:solidFill>
                  <a:srgbClr val="1F3A5F"/>
                </a:solidFill>
                <a:latin typeface="Calibri"/>
              </a:rPr>
              <a:t>4,725 → 4,253 MWh/yr</a:t>
            </a:r>
          </a:p>
        </p:txBody>
      </p:sp>
      <p:sp>
        <p:nvSpPr>
          <p:cNvPr id="16" name="TextBox 15"/>
          <p:cNvSpPr txBox="1"/>
          <p:nvPr/>
        </p:nvSpPr>
        <p:spPr>
          <a:xfrm>
            <a:off x="7772400" y="4377689"/>
            <a:ext cx="4114800" cy="480060"/>
          </a:xfrm>
          <a:prstGeom prst="rect">
            <a:avLst/>
          </a:prstGeom>
          <a:noFill/>
        </p:spPr>
        <p:txBody>
          <a:bodyPr wrap="square" anchor="t" lIns="73152" rIns="73152" tIns="36576" bIns="36576">
            <a:spAutoFit/>
          </a:bodyPr>
          <a:lstStyle/>
          <a:p>
            <a:pPr algn="ctr">
              <a:lnSpc>
                <a:spcPct val="115000"/>
              </a:lnSpc>
            </a:pPr>
            <a:r>
              <a:rPr sz="1300" b="0">
                <a:solidFill>
                  <a:srgbClr val="5F6B7A"/>
                </a:solidFill>
                <a:latin typeface="Calibri"/>
              </a:rPr>
              <a:t>annual energy, MPPT vs 10 percent deloaded (CF 27.0 → 24.3 percent), Weibull k = 2, c = 7.5 m/s</a:t>
            </a:r>
          </a:p>
        </p:txBody>
      </p:sp>
      <p:sp>
        <p:nvSpPr>
          <p:cNvPr id="17" name="Rounded Rectangle 16"/>
          <p:cNvSpPr/>
          <p:nvPr/>
        </p:nvSpPr>
        <p:spPr>
          <a:xfrm>
            <a:off x="7772400" y="5029200"/>
            <a:ext cx="4114800" cy="114300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0" y="5120640"/>
            <a:ext cx="4114800" cy="628650"/>
          </a:xfrm>
          <a:prstGeom prst="rect">
            <a:avLst/>
          </a:prstGeom>
          <a:noFill/>
        </p:spPr>
        <p:txBody>
          <a:bodyPr wrap="square" anchor="ctr" lIns="73152" rIns="73152" tIns="36576" bIns="36576">
            <a:spAutoFit/>
          </a:bodyPr>
          <a:lstStyle/>
          <a:p>
            <a:pPr algn="ctr">
              <a:lnSpc>
                <a:spcPct val="115000"/>
              </a:lnSpc>
            </a:pPr>
            <a:r>
              <a:rPr sz="2600" b="1">
                <a:solidFill>
                  <a:srgbClr val="D62728"/>
                </a:solidFill>
                <a:latin typeface="Calibri"/>
              </a:rPr>
              <a:t>INR 16.5 lakh/yr</a:t>
            </a:r>
          </a:p>
        </p:txBody>
      </p:sp>
      <p:sp>
        <p:nvSpPr>
          <p:cNvPr id="19" name="TextBox 18"/>
          <p:cNvSpPr txBox="1"/>
          <p:nvPr/>
        </p:nvSpPr>
        <p:spPr>
          <a:xfrm>
            <a:off x="7772400" y="5657850"/>
            <a:ext cx="4114800" cy="480060"/>
          </a:xfrm>
          <a:prstGeom prst="rect">
            <a:avLst/>
          </a:prstGeom>
          <a:noFill/>
        </p:spPr>
        <p:txBody>
          <a:bodyPr wrap="square" anchor="t" lIns="73152" rIns="73152" tIns="36576" bIns="36576">
            <a:spAutoFit/>
          </a:bodyPr>
          <a:lstStyle/>
          <a:p>
            <a:pPr algn="ctr">
              <a:lnSpc>
                <a:spcPct val="115000"/>
              </a:lnSpc>
            </a:pPr>
            <a:r>
              <a:rPr sz="1300" b="0">
                <a:solidFill>
                  <a:srgbClr val="5F6B7A"/>
                </a:solidFill>
                <a:latin typeface="Calibri"/>
              </a:rPr>
              <a:t>upper-bound cost at 3.5 INR/kWh; reserve is needed only in low-inertia hours, and it replaces a battery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30000" cy="731520"/>
          </a:xfrm>
          <a:prstGeom prst="rect">
            <a:avLst/>
          </a:prstGeom>
          <a:noFill/>
        </p:spPr>
        <p:txBody>
          <a:bodyPr wrap="square" anchor="ctr" lIns="73152" rIns="73152" tIns="36576" bIns="36576">
            <a:spAutoFit/>
          </a:bodyPr>
          <a:lstStyle/>
          <a:p>
            <a:pPr algn="l">
              <a:lnSpc>
                <a:spcPct val="115000"/>
              </a:lnSpc>
            </a:pPr>
            <a:r>
              <a:rPr sz="2600" b="1">
                <a:solidFill>
                  <a:srgbClr val="FFFFFF"/>
                </a:solidFill>
                <a:latin typeface="Calibri"/>
              </a:rPr>
              <a:t>Test system and the five cases</a:t>
            </a:r>
          </a:p>
        </p:txBody>
      </p:sp>
      <p:sp>
        <p:nvSpPr>
          <p:cNvPr id="4" name="Rectangle 3"/>
          <p:cNvSpPr/>
          <p:nvPr/>
        </p:nvSpPr>
        <p:spPr>
          <a:xfrm>
            <a:off x="0" y="868680"/>
            <a:ext cx="12191695" cy="54864"/>
          </a:xfrm>
          <a:prstGeom prst="rect">
            <a:avLst/>
          </a:prstGeom>
          <a:solidFill>
            <a:srgbClr val="2CA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6446520"/>
            <a:ext cx="9144000" cy="320040"/>
          </a:xfrm>
          <a:prstGeom prst="rect">
            <a:avLst/>
          </a:prstGeom>
          <a:noFill/>
        </p:spPr>
        <p:txBody>
          <a:bodyPr wrap="square" anchor="t" lIns="73152" rIns="73152" tIns="36576" bIns="36576">
            <a:spAutoFit/>
          </a:bodyPr>
          <a:lstStyle/>
          <a:p>
            <a:pPr algn="l">
              <a:lnSpc>
                <a:spcPct val="115000"/>
              </a:lnSpc>
            </a:pPr>
            <a:r>
              <a:rPr sz="1000" b="0">
                <a:solidFill>
                  <a:srgbClr val="5F6B7A"/>
                </a:solidFill>
                <a:latin typeface="Calibri"/>
              </a:rPr>
              <a:t>Step 1 progress report, Wind Electrical Systems, BITS Goa</a:t>
            </a:r>
          </a:p>
        </p:txBody>
      </p:sp>
      <p:sp>
        <p:nvSpPr>
          <p:cNvPr id="6" name="TextBox 5"/>
          <p:cNvSpPr txBox="1"/>
          <p:nvPr/>
        </p:nvSpPr>
        <p:spPr>
          <a:xfrm>
            <a:off x="11155680" y="6446520"/>
            <a:ext cx="731520" cy="320040"/>
          </a:xfrm>
          <a:prstGeom prst="rect">
            <a:avLst/>
          </a:prstGeom>
          <a:noFill/>
        </p:spPr>
        <p:txBody>
          <a:bodyPr wrap="square" anchor="t" lIns="73152" rIns="73152" tIns="36576" bIns="36576">
            <a:spAutoFit/>
          </a:bodyPr>
          <a:lstStyle/>
          <a:p>
            <a:pPr algn="r">
              <a:lnSpc>
                <a:spcPct val="115000"/>
              </a:lnSpc>
            </a:pPr>
            <a:r>
              <a:rPr sz="1000" b="0">
                <a:solidFill>
                  <a:srgbClr val="5F6B7A"/>
                </a:solidFill>
                <a:latin typeface="Calibri"/>
              </a:rPr>
              <a:t>6</a:t>
            </a:r>
          </a:p>
        </p:txBody>
      </p:sp>
      <p:sp>
        <p:nvSpPr>
          <p:cNvPr id="7" name="Rounded Rectangle 6"/>
          <p:cNvSpPr/>
          <p:nvPr/>
        </p:nvSpPr>
        <p:spPr>
          <a:xfrm>
            <a:off x="457200" y="1325880"/>
            <a:ext cx="3017520" cy="1097280"/>
          </a:xfrm>
          <a:prstGeom prst="roundRect">
            <a:avLst/>
          </a:prstGeom>
          <a:solidFill>
            <a:srgbClr val="F2F4F7"/>
          </a:solidFill>
          <a:ln w="127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pPr>
            <a:r>
              <a:rPr sz="1500" b="1">
                <a:solidFill>
                  <a:srgbClr val="1F3A5F"/>
                </a:solidFill>
                <a:latin typeface="Calibri"/>
              </a:rPr>
              <a:t>Synchronous fleet</a:t>
            </a:r>
          </a:p>
          <a:p>
            <a:pPr algn="ctr">
              <a:lnSpc>
                <a:spcPct val="115000"/>
              </a:lnSpc>
            </a:pPr>
            <a:r>
              <a:rPr sz="1300" b="0">
                <a:solidFill>
                  <a:srgbClr val="222222"/>
                </a:solidFill>
                <a:latin typeface="Calibri"/>
              </a:rPr>
              <a:t>H = 5 s, reheat steam governor, droop 5 percent</a:t>
            </a:r>
          </a:p>
        </p:txBody>
      </p:sp>
      <p:sp>
        <p:nvSpPr>
          <p:cNvPr id="8" name="Rounded Rectangle 7"/>
          <p:cNvSpPr/>
          <p:nvPr/>
        </p:nvSpPr>
        <p:spPr>
          <a:xfrm>
            <a:off x="4572000" y="1325880"/>
            <a:ext cx="3017520" cy="1097280"/>
          </a:xfrm>
          <a:prstGeom prst="roundRect">
            <a:avLst/>
          </a:prstGeom>
          <a:solidFill>
            <a:srgbClr val="F2F4F7"/>
          </a:solidFill>
          <a:ln w="127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pPr>
            <a:r>
              <a:rPr sz="1500" b="1">
                <a:solidFill>
                  <a:srgbClr val="1F3A5F"/>
                </a:solidFill>
                <a:latin typeface="Calibri"/>
              </a:rPr>
              <a:t>Load bus 3</a:t>
            </a:r>
          </a:p>
          <a:p>
            <a:pPr algn="ctr">
              <a:lnSpc>
                <a:spcPct val="115000"/>
              </a:lnSpc>
            </a:pPr>
            <a:r>
              <a:rPr sz="1300" b="0">
                <a:solidFill>
                  <a:srgbClr val="222222"/>
                </a:solidFill>
                <a:latin typeface="Calibri"/>
              </a:rPr>
              <a:t>1000 MW, +50 MW step at t = 1 s</a:t>
            </a:r>
          </a:p>
        </p:txBody>
      </p:sp>
      <p:sp>
        <p:nvSpPr>
          <p:cNvPr id="9" name="Rounded Rectangle 8"/>
          <p:cNvSpPr/>
          <p:nvPr/>
        </p:nvSpPr>
        <p:spPr>
          <a:xfrm>
            <a:off x="8686800" y="1325880"/>
            <a:ext cx="3017520" cy="1097280"/>
          </a:xfrm>
          <a:prstGeom prst="roundRect">
            <a:avLst/>
          </a:prstGeom>
          <a:solidFill>
            <a:srgbClr val="F2F4F7"/>
          </a:solidFill>
          <a:ln w="12700">
            <a:solidFill>
              <a:srgbClr val="2CA02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pPr>
            <a:r>
              <a:rPr sz="1500" b="1">
                <a:solidFill>
                  <a:srgbClr val="2CA02C"/>
                </a:solidFill>
                <a:latin typeface="Calibri"/>
              </a:rPr>
              <a:t>Wind plant</a:t>
            </a:r>
          </a:p>
          <a:p>
            <a:pPr algn="ctr">
              <a:lnSpc>
                <a:spcPct val="115000"/>
              </a:lnSpc>
            </a:pPr>
            <a:r>
              <a:rPr sz="1300" b="0">
                <a:solidFill>
                  <a:srgbClr val="222222"/>
                </a:solidFill>
                <a:latin typeface="Calibri"/>
              </a:rPr>
              <a:t>474 x 2 MW PMSG = 948 MW, 9 m/s, 40 percent of load</a:t>
            </a:r>
          </a:p>
        </p:txBody>
      </p:sp>
      <p:cxnSp>
        <p:nvCxnSpPr>
          <p:cNvPr id="10" name="Connector 9"/>
          <p:cNvCxnSpPr/>
          <p:nvPr/>
        </p:nvCxnSpPr>
        <p:spPr>
          <a:xfrm>
            <a:off x="3474720" y="1874520"/>
            <a:ext cx="1097280" cy="0"/>
          </a:xfrm>
          <a:prstGeom prst="line">
            <a:avLst/>
          </a:prstGeom>
          <a:ln w="31750">
            <a:solidFill>
              <a:srgbClr val="1F3A5F"/>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474720" y="1463040"/>
            <a:ext cx="1097280" cy="365760"/>
          </a:xfrm>
          <a:prstGeom prst="rect">
            <a:avLst/>
          </a:prstGeom>
          <a:noFill/>
        </p:spPr>
        <p:txBody>
          <a:bodyPr wrap="square" anchor="t" lIns="73152" rIns="73152" tIns="36576" bIns="36576">
            <a:spAutoFit/>
          </a:bodyPr>
          <a:lstStyle/>
          <a:p>
            <a:pPr algn="ctr">
              <a:lnSpc>
                <a:spcPct val="115000"/>
              </a:lnSpc>
            </a:pPr>
            <a:r>
              <a:rPr sz="1200" b="0">
                <a:solidFill>
                  <a:srgbClr val="5F6B7A"/>
                </a:solidFill>
                <a:latin typeface="Calibri"/>
              </a:rPr>
              <a:t>X13 = 0.25 pu</a:t>
            </a:r>
          </a:p>
        </p:txBody>
      </p:sp>
      <p:cxnSp>
        <p:nvCxnSpPr>
          <p:cNvPr id="12" name="Connector 11"/>
          <p:cNvCxnSpPr/>
          <p:nvPr/>
        </p:nvCxnSpPr>
        <p:spPr>
          <a:xfrm>
            <a:off x="7589520" y="1874520"/>
            <a:ext cx="1097280" cy="0"/>
          </a:xfrm>
          <a:prstGeom prst="line">
            <a:avLst/>
          </a:prstGeom>
          <a:ln w="31750">
            <a:solidFill>
              <a:srgbClr val="1F3A5F"/>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589520" y="1463040"/>
            <a:ext cx="1097280" cy="365760"/>
          </a:xfrm>
          <a:prstGeom prst="rect">
            <a:avLst/>
          </a:prstGeom>
          <a:noFill/>
        </p:spPr>
        <p:txBody>
          <a:bodyPr wrap="square" anchor="t" lIns="73152" rIns="73152" tIns="36576" bIns="36576">
            <a:spAutoFit/>
          </a:bodyPr>
          <a:lstStyle/>
          <a:p>
            <a:pPr algn="ctr">
              <a:lnSpc>
                <a:spcPct val="115000"/>
              </a:lnSpc>
            </a:pPr>
            <a:r>
              <a:rPr sz="1200" b="0">
                <a:solidFill>
                  <a:srgbClr val="5F6B7A"/>
                </a:solidFill>
                <a:latin typeface="Calibri"/>
              </a:rPr>
              <a:t>X23 = 0.20 pu</a:t>
            </a:r>
          </a:p>
        </p:txBody>
      </p:sp>
      <p:sp>
        <p:nvSpPr>
          <p:cNvPr id="14" name="TextBox 13"/>
          <p:cNvSpPr txBox="1"/>
          <p:nvPr/>
        </p:nvSpPr>
        <p:spPr>
          <a:xfrm>
            <a:off x="457200" y="2514600"/>
            <a:ext cx="11247120" cy="365760"/>
          </a:xfrm>
          <a:prstGeom prst="rect">
            <a:avLst/>
          </a:prstGeom>
          <a:noFill/>
        </p:spPr>
        <p:txBody>
          <a:bodyPr wrap="square" anchor="t" lIns="73152" rIns="73152" tIns="36576" bIns="36576">
            <a:spAutoFit/>
          </a:bodyPr>
          <a:lstStyle/>
          <a:p>
            <a:pPr algn="l">
              <a:lnSpc>
                <a:spcPct val="115000"/>
              </a:lnSpc>
            </a:pPr>
            <a:r>
              <a:rPr sz="1300" b="0">
                <a:solidFill>
                  <a:srgbClr val="5F6B7A"/>
                </a:solidFill>
                <a:latin typeface="Calibri"/>
              </a:rPr>
              <a:t>Base 1000 MVA, 50 Hz. Load self-regulation D = 1. Controller gains identical in C2, C3, C4: virtual inertia H_v = 5 s, droop 5 percent on the wind base.</a:t>
            </a:r>
          </a:p>
        </p:txBody>
      </p:sp>
      <p:graphicFrame>
        <p:nvGraphicFramePr>
          <p:cNvPr id="15" name="Table 14"/>
          <p:cNvGraphicFramePr>
            <a:graphicFrameLocks noGrp="1"/>
          </p:cNvGraphicFramePr>
          <p:nvPr/>
        </p:nvGraphicFramePr>
        <p:xfrm>
          <a:off x="457200" y="3017520"/>
          <a:ext cx="11247119" cy="3108960"/>
        </p:xfrm>
        <a:graphic>
          <a:graphicData uri="http://schemas.openxmlformats.org/drawingml/2006/table">
            <a:tbl>
              <a:tblPr firstRow="1" bandRow="1">
                <a:tableStyleId>{5C22544A-7EE6-4342-B048-85BDC9FD1C3A}</a:tableStyleId>
              </a:tblPr>
              <a:tblGrid>
                <a:gridCol w="640079"/>
                <a:gridCol w="3840480"/>
                <a:gridCol w="1737360"/>
                <a:gridCol w="5029200"/>
              </a:tblGrid>
              <a:tr h="518160">
                <a:tc>
                  <a:txBody>
                    <a:bodyPr/>
                    <a:lstStyle/>
                    <a:p>
                      <a:r>
                        <a:rPr sz="1300" b="1">
                          <a:solidFill>
                            <a:srgbClr val="FFFFFF"/>
                          </a:solidFill>
                          <a:latin typeface="Calibri"/>
                        </a:rPr>
                        <a:t>Case</a:t>
                      </a:r>
                    </a:p>
                  </a:txBody>
                  <a:tcPr marL="54864" marR="54864" marT="27432" marB="27432">
                    <a:solidFill>
                      <a:srgbClr val="1F3A5F"/>
                    </a:solidFill>
                  </a:tcPr>
                </a:tc>
                <a:tc>
                  <a:txBody>
                    <a:bodyPr/>
                    <a:lstStyle/>
                    <a:p>
                      <a:r>
                        <a:rPr sz="1300" b="1">
                          <a:solidFill>
                            <a:srgbClr val="FFFFFF"/>
                          </a:solidFill>
                          <a:latin typeface="Calibri"/>
                        </a:rPr>
                        <a:t>Wind-plant control</a:t>
                      </a:r>
                    </a:p>
                  </a:txBody>
                  <a:tcPr marL="54864" marR="54864" marT="27432" marB="27432">
                    <a:solidFill>
                      <a:srgbClr val="1F3A5F"/>
                    </a:solidFill>
                  </a:tcPr>
                </a:tc>
                <a:tc>
                  <a:txBody>
                    <a:bodyPr/>
                    <a:lstStyle/>
                    <a:p>
                      <a:r>
                        <a:rPr sz="1300" b="1">
                          <a:solidFill>
                            <a:srgbClr val="FFFFFF"/>
                          </a:solidFill>
                          <a:latin typeface="Calibri"/>
                        </a:rPr>
                        <a:t>Reserve</a:t>
                      </a:r>
                    </a:p>
                  </a:txBody>
                  <a:tcPr marL="54864" marR="54864" marT="27432" marB="27432">
                    <a:solidFill>
                      <a:srgbClr val="1F3A5F"/>
                    </a:solidFill>
                  </a:tcPr>
                </a:tc>
                <a:tc>
                  <a:txBody>
                    <a:bodyPr/>
                    <a:lstStyle/>
                    <a:p>
                      <a:r>
                        <a:rPr sz="1300" b="1">
                          <a:solidFill>
                            <a:srgbClr val="FFFFFF"/>
                          </a:solidFill>
                          <a:latin typeface="Calibri"/>
                        </a:rPr>
                        <a:t>What it represents</a:t>
                      </a:r>
                    </a:p>
                  </a:txBody>
                  <a:tcPr marL="54864" marR="54864" marT="27432" marB="27432">
                    <a:solidFill>
                      <a:srgbClr val="1F3A5F"/>
                    </a:solidFill>
                  </a:tcPr>
                </a:tc>
              </a:tr>
              <a:tr h="518160">
                <a:tc>
                  <a:txBody>
                    <a:bodyPr/>
                    <a:lstStyle/>
                    <a:p>
                      <a:r>
                        <a:rPr sz="1300">
                          <a:solidFill>
                            <a:srgbClr val="222222"/>
                          </a:solidFill>
                          <a:latin typeface="Calibri"/>
                        </a:rPr>
                        <a:t>C0</a:t>
                      </a:r>
                    </a:p>
                  </a:txBody>
                  <a:tcPr marL="54864" marR="54864" marT="27432" marB="27432">
                    <a:solidFill>
                      <a:srgbClr val="F2F4F7"/>
                    </a:solidFill>
                  </a:tcPr>
                </a:tc>
                <a:tc>
                  <a:txBody>
                    <a:bodyPr/>
                    <a:lstStyle/>
                    <a:p>
                      <a:r>
                        <a:rPr sz="1300">
                          <a:solidFill>
                            <a:srgbClr val="222222"/>
                          </a:solidFill>
                          <a:latin typeface="Calibri"/>
                        </a:rPr>
                        <a:t>no wind, all synchronous</a:t>
                      </a:r>
                    </a:p>
                  </a:txBody>
                  <a:tcPr marL="54864" marR="54864" marT="27432" marB="27432">
                    <a:solidFill>
                      <a:srgbClr val="F2F4F7"/>
                    </a:solidFill>
                  </a:tcPr>
                </a:tc>
                <a:tc>
                  <a:txBody>
                    <a:bodyPr/>
                    <a:lstStyle/>
                    <a:p>
                      <a:r>
                        <a:rPr sz="1300">
                          <a:solidFill>
                            <a:srgbClr val="222222"/>
                          </a:solidFill>
                          <a:latin typeface="Calibri"/>
                        </a:rPr>
                        <a:t>-</a:t>
                      </a:r>
                    </a:p>
                  </a:txBody>
                  <a:tcPr marL="54864" marR="54864" marT="27432" marB="27432">
                    <a:solidFill>
                      <a:srgbClr val="F2F4F7"/>
                    </a:solidFill>
                  </a:tcPr>
                </a:tc>
                <a:tc>
                  <a:txBody>
                    <a:bodyPr/>
                    <a:lstStyle/>
                    <a:p>
                      <a:r>
                        <a:rPr sz="1300">
                          <a:solidFill>
                            <a:srgbClr val="222222"/>
                          </a:solidFill>
                          <a:latin typeface="Calibri"/>
                        </a:rPr>
                        <a:t>reference grid</a:t>
                      </a:r>
                    </a:p>
                  </a:txBody>
                  <a:tcPr marL="54864" marR="54864" marT="27432" marB="27432">
                    <a:solidFill>
                      <a:srgbClr val="F2F4F7"/>
                    </a:solidFill>
                  </a:tcPr>
                </a:tc>
              </a:tr>
              <a:tr h="518160">
                <a:tc>
                  <a:txBody>
                    <a:bodyPr/>
                    <a:lstStyle/>
                    <a:p>
                      <a:r>
                        <a:rPr sz="1300">
                          <a:solidFill>
                            <a:srgbClr val="222222"/>
                          </a:solidFill>
                          <a:latin typeface="Calibri"/>
                        </a:rPr>
                        <a:t>C1</a:t>
                      </a:r>
                    </a:p>
                  </a:txBody>
                  <a:tcPr marL="54864" marR="54864" marT="27432" marB="27432">
                    <a:solidFill>
                      <a:srgbClr val="FFFFFF"/>
                    </a:solidFill>
                  </a:tcPr>
                </a:tc>
                <a:tc>
                  <a:txBody>
                    <a:bodyPr/>
                    <a:lstStyle/>
                    <a:p>
                      <a:r>
                        <a:rPr sz="1300">
                          <a:solidFill>
                            <a:srgbClr val="222222"/>
                          </a:solidFill>
                          <a:latin typeface="Calibri"/>
                        </a:rPr>
                        <a:t>grid-following, MPPT</a:t>
                      </a:r>
                    </a:p>
                  </a:txBody>
                  <a:tcPr marL="54864" marR="54864" marT="27432" marB="27432">
                    <a:solidFill>
                      <a:srgbClr val="FFFFFF"/>
                    </a:solidFill>
                  </a:tcPr>
                </a:tc>
                <a:tc>
                  <a:txBody>
                    <a:bodyPr/>
                    <a:lstStyle/>
                    <a:p>
                      <a:r>
                        <a:rPr sz="1300">
                          <a:solidFill>
                            <a:srgbClr val="222222"/>
                          </a:solidFill>
                          <a:latin typeface="Calibri"/>
                        </a:rPr>
                        <a:t>none</a:t>
                      </a:r>
                    </a:p>
                  </a:txBody>
                  <a:tcPr marL="54864" marR="54864" marT="27432" marB="27432">
                    <a:solidFill>
                      <a:srgbClr val="FFFFFF"/>
                    </a:solidFill>
                  </a:tcPr>
                </a:tc>
                <a:tc>
                  <a:txBody>
                    <a:bodyPr/>
                    <a:lstStyle/>
                    <a:p>
                      <a:r>
                        <a:rPr sz="1300">
                          <a:solidFill>
                            <a:srgbClr val="222222"/>
                          </a:solidFill>
                          <a:latin typeface="Calibri"/>
                        </a:rPr>
                        <a:t>today's standard practice</a:t>
                      </a:r>
                    </a:p>
                  </a:txBody>
                  <a:tcPr marL="54864" marR="54864" marT="27432" marB="27432">
                    <a:solidFill>
                      <a:srgbClr val="FFFFFF"/>
                    </a:solidFill>
                  </a:tcPr>
                </a:tc>
              </a:tr>
              <a:tr h="518160">
                <a:tc>
                  <a:txBody>
                    <a:bodyPr/>
                    <a:lstStyle/>
                    <a:p>
                      <a:r>
                        <a:rPr sz="1300">
                          <a:solidFill>
                            <a:srgbClr val="222222"/>
                          </a:solidFill>
                          <a:latin typeface="Calibri"/>
                        </a:rPr>
                        <a:t>C2</a:t>
                      </a:r>
                    </a:p>
                  </a:txBody>
                  <a:tcPr marL="54864" marR="54864" marT="27432" marB="27432">
                    <a:solidFill>
                      <a:srgbClr val="F2F4F7"/>
                    </a:solidFill>
                  </a:tcPr>
                </a:tc>
                <a:tc>
                  <a:txBody>
                    <a:bodyPr/>
                    <a:lstStyle/>
                    <a:p>
                      <a:r>
                        <a:rPr sz="1300">
                          <a:solidFill>
                            <a:srgbClr val="222222"/>
                          </a:solidFill>
                          <a:latin typeface="Calibri"/>
                        </a:rPr>
                        <a:t>grid-following + synthetic inertia + droop</a:t>
                      </a:r>
                    </a:p>
                  </a:txBody>
                  <a:tcPr marL="54864" marR="54864" marT="27432" marB="27432">
                    <a:solidFill>
                      <a:srgbClr val="F2F4F7"/>
                    </a:solidFill>
                  </a:tcPr>
                </a:tc>
                <a:tc>
                  <a:txBody>
                    <a:bodyPr/>
                    <a:lstStyle/>
                    <a:p>
                      <a:r>
                        <a:rPr sz="1300">
                          <a:solidFill>
                            <a:srgbClr val="222222"/>
                          </a:solidFill>
                          <a:latin typeface="Calibri"/>
                        </a:rPr>
                        <a:t>none</a:t>
                      </a:r>
                    </a:p>
                  </a:txBody>
                  <a:tcPr marL="54864" marR="54864" marT="27432" marB="27432">
                    <a:solidFill>
                      <a:srgbClr val="F2F4F7"/>
                    </a:solidFill>
                  </a:tcPr>
                </a:tc>
                <a:tc>
                  <a:txBody>
                    <a:bodyPr/>
                    <a:lstStyle/>
                    <a:p>
                      <a:r>
                        <a:rPr sz="1300">
                          <a:solidFill>
                            <a:srgbClr val="222222"/>
                          </a:solidFill>
                          <a:latin typeface="Calibri"/>
                        </a:rPr>
                        <a:t>what vendors offer now; support is borrowed from the rotor</a:t>
                      </a:r>
                    </a:p>
                  </a:txBody>
                  <a:tcPr marL="54864" marR="54864" marT="27432" marB="27432">
                    <a:solidFill>
                      <a:srgbClr val="F2F4F7"/>
                    </a:solidFill>
                  </a:tcPr>
                </a:tc>
              </a:tr>
              <a:tr h="518160">
                <a:tc>
                  <a:txBody>
                    <a:bodyPr/>
                    <a:lstStyle/>
                    <a:p>
                      <a:r>
                        <a:rPr sz="1300">
                          <a:solidFill>
                            <a:srgbClr val="222222"/>
                          </a:solidFill>
                          <a:latin typeface="Calibri"/>
                        </a:rPr>
                        <a:t>C3</a:t>
                      </a:r>
                    </a:p>
                  </a:txBody>
                  <a:tcPr marL="54864" marR="54864" marT="27432" marB="27432">
                    <a:solidFill>
                      <a:srgbClr val="FFFFFF"/>
                    </a:solidFill>
                  </a:tcPr>
                </a:tc>
                <a:tc>
                  <a:txBody>
                    <a:bodyPr/>
                    <a:lstStyle/>
                    <a:p>
                      <a:r>
                        <a:rPr sz="1300">
                          <a:solidFill>
                            <a:srgbClr val="222222"/>
                          </a:solidFill>
                          <a:latin typeface="Calibri"/>
                        </a:rPr>
                        <a:t>grid-following + synthetic inertia + droop</a:t>
                      </a:r>
                    </a:p>
                  </a:txBody>
                  <a:tcPr marL="54864" marR="54864" marT="27432" marB="27432">
                    <a:solidFill>
                      <a:srgbClr val="FFFFFF"/>
                    </a:solidFill>
                  </a:tcPr>
                </a:tc>
                <a:tc>
                  <a:txBody>
                    <a:bodyPr/>
                    <a:lstStyle/>
                    <a:p>
                      <a:r>
                        <a:rPr sz="1300">
                          <a:solidFill>
                            <a:srgbClr val="222222"/>
                          </a:solidFill>
                          <a:latin typeface="Calibri"/>
                        </a:rPr>
                        <a:t>10 percent overspeed</a:t>
                      </a:r>
                    </a:p>
                  </a:txBody>
                  <a:tcPr marL="54864" marR="54864" marT="27432" marB="27432">
                    <a:solidFill>
                      <a:srgbClr val="FFFFFF"/>
                    </a:solidFill>
                  </a:tcPr>
                </a:tc>
                <a:tc>
                  <a:txBody>
                    <a:bodyPr/>
                    <a:lstStyle/>
                    <a:p>
                      <a:r>
                        <a:rPr sz="1300">
                          <a:solidFill>
                            <a:srgbClr val="222222"/>
                          </a:solidFill>
                          <a:latin typeface="Calibri"/>
                        </a:rPr>
                        <a:t>same controller as C2, with the reserve</a:t>
                      </a:r>
                    </a:p>
                  </a:txBody>
                  <a:tcPr marL="54864" marR="54864" marT="27432" marB="27432">
                    <a:solidFill>
                      <a:srgbClr val="FFFFFF"/>
                    </a:solidFill>
                  </a:tcPr>
                </a:tc>
              </a:tr>
              <a:tr h="518160">
                <a:tc>
                  <a:txBody>
                    <a:bodyPr/>
                    <a:lstStyle/>
                    <a:p>
                      <a:r>
                        <a:rPr sz="1300" b="1">
                          <a:solidFill>
                            <a:srgbClr val="2CA02C"/>
                          </a:solidFill>
                          <a:latin typeface="Calibri"/>
                        </a:rPr>
                        <a:t>C4</a:t>
                      </a:r>
                    </a:p>
                  </a:txBody>
                  <a:tcPr marL="54864" marR="54864" marT="27432" marB="27432">
                    <a:solidFill>
                      <a:srgbClr val="F2F4F7"/>
                    </a:solidFill>
                  </a:tcPr>
                </a:tc>
                <a:tc>
                  <a:txBody>
                    <a:bodyPr/>
                    <a:lstStyle/>
                    <a:p>
                      <a:r>
                        <a:rPr sz="1300" b="1">
                          <a:solidFill>
                            <a:srgbClr val="2CA02C"/>
                          </a:solidFill>
                          <a:latin typeface="Calibri"/>
                        </a:rPr>
                        <a:t>grid-forming virtual synchronous machine (proposed)</a:t>
                      </a:r>
                    </a:p>
                  </a:txBody>
                  <a:tcPr marL="54864" marR="54864" marT="27432" marB="27432">
                    <a:solidFill>
                      <a:srgbClr val="F2F4F7"/>
                    </a:solidFill>
                  </a:tcPr>
                </a:tc>
                <a:tc>
                  <a:txBody>
                    <a:bodyPr/>
                    <a:lstStyle/>
                    <a:p>
                      <a:r>
                        <a:rPr sz="1300" b="1">
                          <a:solidFill>
                            <a:srgbClr val="2CA02C"/>
                          </a:solidFill>
                          <a:latin typeface="Calibri"/>
                        </a:rPr>
                        <a:t>10 percent overspeed</a:t>
                      </a:r>
                    </a:p>
                  </a:txBody>
                  <a:tcPr marL="54864" marR="54864" marT="27432" marB="27432">
                    <a:solidFill>
                      <a:srgbClr val="F2F4F7"/>
                    </a:solidFill>
                  </a:tcPr>
                </a:tc>
                <a:tc>
                  <a:txBody>
                    <a:bodyPr/>
                    <a:lstStyle/>
                    <a:p>
                      <a:r>
                        <a:rPr sz="1300" b="1">
                          <a:solidFill>
                            <a:srgbClr val="2CA02C"/>
                          </a:solidFill>
                          <a:latin typeface="Calibri"/>
                        </a:rPr>
                        <a:t>voltage source: inertia and droop with no frequency measurement</a:t>
                      </a:r>
                    </a:p>
                  </a:txBody>
                  <a:tcPr marL="54864" marR="54864" marT="27432" marB="27432">
                    <a:solidFill>
                      <a:srgbClr val="F2F4F7"/>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30000" cy="731520"/>
          </a:xfrm>
          <a:prstGeom prst="rect">
            <a:avLst/>
          </a:prstGeom>
          <a:noFill/>
        </p:spPr>
        <p:txBody>
          <a:bodyPr wrap="square" anchor="ctr" lIns="73152" rIns="73152" tIns="36576" bIns="36576">
            <a:spAutoFit/>
          </a:bodyPr>
          <a:lstStyle/>
          <a:p>
            <a:pPr algn="l">
              <a:lnSpc>
                <a:spcPct val="115000"/>
              </a:lnSpc>
            </a:pPr>
            <a:r>
              <a:rPr sz="2600" b="1">
                <a:solidFill>
                  <a:srgbClr val="FFFFFF"/>
                </a:solidFill>
                <a:latin typeface="Calibri"/>
              </a:rPr>
              <a:t>Headline: grid-forming with the reserve keeps the nadir inside the IEGC band</a:t>
            </a:r>
          </a:p>
        </p:txBody>
      </p:sp>
      <p:sp>
        <p:nvSpPr>
          <p:cNvPr id="4" name="Rectangle 3"/>
          <p:cNvSpPr/>
          <p:nvPr/>
        </p:nvSpPr>
        <p:spPr>
          <a:xfrm>
            <a:off x="0" y="868680"/>
            <a:ext cx="12191695" cy="54864"/>
          </a:xfrm>
          <a:prstGeom prst="rect">
            <a:avLst/>
          </a:prstGeom>
          <a:solidFill>
            <a:srgbClr val="2CA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6446520"/>
            <a:ext cx="9144000" cy="320040"/>
          </a:xfrm>
          <a:prstGeom prst="rect">
            <a:avLst/>
          </a:prstGeom>
          <a:noFill/>
        </p:spPr>
        <p:txBody>
          <a:bodyPr wrap="square" anchor="t" lIns="73152" rIns="73152" tIns="36576" bIns="36576">
            <a:spAutoFit/>
          </a:bodyPr>
          <a:lstStyle/>
          <a:p>
            <a:pPr algn="l">
              <a:lnSpc>
                <a:spcPct val="115000"/>
              </a:lnSpc>
            </a:pPr>
            <a:r>
              <a:rPr sz="1000" b="0">
                <a:solidFill>
                  <a:srgbClr val="5F6B7A"/>
                </a:solidFill>
                <a:latin typeface="Calibri"/>
              </a:rPr>
              <a:t>Step 1 progress report, Wind Electrical Systems, BITS Goa</a:t>
            </a:r>
          </a:p>
        </p:txBody>
      </p:sp>
      <p:sp>
        <p:nvSpPr>
          <p:cNvPr id="6" name="TextBox 5"/>
          <p:cNvSpPr txBox="1"/>
          <p:nvPr/>
        </p:nvSpPr>
        <p:spPr>
          <a:xfrm>
            <a:off x="11155680" y="6446520"/>
            <a:ext cx="731520" cy="320040"/>
          </a:xfrm>
          <a:prstGeom prst="rect">
            <a:avLst/>
          </a:prstGeom>
          <a:noFill/>
        </p:spPr>
        <p:txBody>
          <a:bodyPr wrap="square" anchor="t" lIns="73152" rIns="73152" tIns="36576" bIns="36576">
            <a:spAutoFit/>
          </a:bodyPr>
          <a:lstStyle/>
          <a:p>
            <a:pPr algn="r">
              <a:lnSpc>
                <a:spcPct val="115000"/>
              </a:lnSpc>
            </a:pPr>
            <a:r>
              <a:rPr sz="1000" b="0">
                <a:solidFill>
                  <a:srgbClr val="5F6B7A"/>
                </a:solidFill>
                <a:latin typeface="Calibri"/>
              </a:rPr>
              <a:t>7</a:t>
            </a:r>
          </a:p>
        </p:txBody>
      </p:sp>
      <p:pic>
        <p:nvPicPr>
          <p:cNvPr id="7" name="Picture 6" descr="B1_frequency.png"/>
          <p:cNvPicPr>
            <a:picLocks noChangeAspect="1"/>
          </p:cNvPicPr>
          <p:nvPr/>
        </p:nvPicPr>
        <p:blipFill>
          <a:blip r:embed="rId3"/>
          <a:stretch>
            <a:fillRect/>
          </a:stretch>
        </p:blipFill>
        <p:spPr>
          <a:xfrm>
            <a:off x="274320" y="1348798"/>
            <a:ext cx="7863840" cy="4709044"/>
          </a:xfrm>
          <a:prstGeom prst="rect">
            <a:avLst/>
          </a:prstGeom>
        </p:spPr>
      </p:pic>
      <p:graphicFrame>
        <p:nvGraphicFramePr>
          <p:cNvPr id="8" name="Table 7"/>
          <p:cNvGraphicFramePr>
            <a:graphicFrameLocks noGrp="1"/>
          </p:cNvGraphicFramePr>
          <p:nvPr/>
        </p:nvGraphicFramePr>
        <p:xfrm>
          <a:off x="8321040" y="1188720"/>
          <a:ext cx="3611879" cy="2743200"/>
        </p:xfrm>
        <a:graphic>
          <a:graphicData uri="http://schemas.openxmlformats.org/drawingml/2006/table">
            <a:tbl>
              <a:tblPr firstRow="1" bandRow="1">
                <a:tableStyleId>{5C22544A-7EE6-4342-B048-85BDC9FD1C3A}</a:tableStyleId>
              </a:tblPr>
              <a:tblGrid>
                <a:gridCol w="1409514"/>
                <a:gridCol w="1057135"/>
                <a:gridCol w="1145230"/>
              </a:tblGrid>
              <a:tr h="457200">
                <a:tc>
                  <a:txBody>
                    <a:bodyPr/>
                    <a:lstStyle/>
                    <a:p>
                      <a:r>
                        <a:rPr sz="1200" b="1">
                          <a:solidFill>
                            <a:srgbClr val="FFFFFF"/>
                          </a:solidFill>
                          <a:latin typeface="Calibri"/>
                        </a:rPr>
                        <a:t>Case</a:t>
                      </a:r>
                    </a:p>
                  </a:txBody>
                  <a:tcPr marL="54864" marR="54864" marT="27432" marB="27432">
                    <a:solidFill>
                      <a:srgbClr val="1F3A5F"/>
                    </a:solidFill>
                  </a:tcPr>
                </a:tc>
                <a:tc>
                  <a:txBody>
                    <a:bodyPr/>
                    <a:lstStyle/>
                    <a:p>
                      <a:r>
                        <a:rPr sz="1200" b="1">
                          <a:solidFill>
                            <a:srgbClr val="FFFFFF"/>
                          </a:solidFill>
                          <a:latin typeface="Calibri"/>
                        </a:rPr>
                        <a:t>Nadir (Hz)</a:t>
                      </a:r>
                    </a:p>
                  </a:txBody>
                  <a:tcPr marL="54864" marR="54864" marT="27432" marB="27432">
                    <a:solidFill>
                      <a:srgbClr val="1F3A5F"/>
                    </a:solidFill>
                  </a:tcPr>
                </a:tc>
                <a:tc>
                  <a:txBody>
                    <a:bodyPr/>
                    <a:lstStyle/>
                    <a:p>
                      <a:r>
                        <a:rPr sz="1200" b="1">
                          <a:solidFill>
                            <a:srgbClr val="FFFFFF"/>
                          </a:solidFill>
                          <a:latin typeface="Calibri"/>
                        </a:rPr>
                        <a:t>RoCoF at step</a:t>
                      </a:r>
                    </a:p>
                  </a:txBody>
                  <a:tcPr marL="54864" marR="54864" marT="27432" marB="27432">
                    <a:solidFill>
                      <a:srgbClr val="1F3A5F"/>
                    </a:solidFill>
                  </a:tcPr>
                </a:tc>
              </a:tr>
              <a:tr h="457200">
                <a:tc>
                  <a:txBody>
                    <a:bodyPr/>
                    <a:lstStyle/>
                    <a:p>
                      <a:r>
                        <a:rPr sz="1200">
                          <a:solidFill>
                            <a:srgbClr val="222222"/>
                          </a:solidFill>
                          <a:latin typeface="Calibri"/>
                        </a:rPr>
                        <a:t>C0 all-sync</a:t>
                      </a:r>
                    </a:p>
                  </a:txBody>
                  <a:tcPr marL="54864" marR="54864" marT="27432" marB="27432">
                    <a:solidFill>
                      <a:srgbClr val="F2F4F7"/>
                    </a:solidFill>
                  </a:tcPr>
                </a:tc>
                <a:tc>
                  <a:txBody>
                    <a:bodyPr/>
                    <a:lstStyle/>
                    <a:p>
                      <a:r>
                        <a:rPr sz="1200">
                          <a:solidFill>
                            <a:srgbClr val="222222"/>
                          </a:solidFill>
                          <a:latin typeface="Calibri"/>
                        </a:rPr>
                        <a:t>49.771</a:t>
                      </a:r>
                    </a:p>
                  </a:txBody>
                  <a:tcPr marL="54864" marR="54864" marT="27432" marB="27432">
                    <a:solidFill>
                      <a:srgbClr val="F2F4F7"/>
                    </a:solidFill>
                  </a:tcPr>
                </a:tc>
                <a:tc>
                  <a:txBody>
                    <a:bodyPr/>
                    <a:lstStyle/>
                    <a:p>
                      <a:r>
                        <a:rPr sz="1200">
                          <a:solidFill>
                            <a:srgbClr val="222222"/>
                          </a:solidFill>
                          <a:latin typeface="Calibri"/>
                        </a:rPr>
                        <a:t>0.213 Hz/s</a:t>
                      </a:r>
                    </a:p>
                  </a:txBody>
                  <a:tcPr marL="54864" marR="54864" marT="27432" marB="27432">
                    <a:solidFill>
                      <a:srgbClr val="F2F4F7"/>
                    </a:solidFill>
                  </a:tcPr>
                </a:tc>
              </a:tr>
              <a:tr h="457200">
                <a:tc>
                  <a:txBody>
                    <a:bodyPr/>
                    <a:lstStyle/>
                    <a:p>
                      <a:r>
                        <a:rPr sz="1200">
                          <a:solidFill>
                            <a:srgbClr val="222222"/>
                          </a:solidFill>
                          <a:latin typeface="Calibri"/>
                        </a:rPr>
                        <a:t>C1 GFL MPPT</a:t>
                      </a:r>
                    </a:p>
                  </a:txBody>
                  <a:tcPr marL="54864" marR="54864" marT="27432" marB="27432">
                    <a:solidFill>
                      <a:srgbClr val="FFFFFF"/>
                    </a:solidFill>
                  </a:tcPr>
                </a:tc>
                <a:tc>
                  <a:txBody>
                    <a:bodyPr/>
                    <a:lstStyle/>
                    <a:p>
                      <a:r>
                        <a:rPr sz="1200">
                          <a:solidFill>
                            <a:srgbClr val="222222"/>
                          </a:solidFill>
                          <a:latin typeface="Calibri"/>
                        </a:rPr>
                        <a:t>49.659</a:t>
                      </a:r>
                    </a:p>
                  </a:txBody>
                  <a:tcPr marL="54864" marR="54864" marT="27432" marB="27432">
                    <a:solidFill>
                      <a:srgbClr val="FFFFFF"/>
                    </a:solidFill>
                  </a:tcPr>
                </a:tc>
                <a:tc>
                  <a:txBody>
                    <a:bodyPr/>
                    <a:lstStyle/>
                    <a:p>
                      <a:r>
                        <a:rPr sz="1200">
                          <a:solidFill>
                            <a:srgbClr val="222222"/>
                          </a:solidFill>
                          <a:latin typeface="Calibri"/>
                        </a:rPr>
                        <a:t>0.332 Hz/s</a:t>
                      </a:r>
                    </a:p>
                  </a:txBody>
                  <a:tcPr marL="54864" marR="54864" marT="27432" marB="27432">
                    <a:solidFill>
                      <a:srgbClr val="FFFFFF"/>
                    </a:solidFill>
                  </a:tcPr>
                </a:tc>
              </a:tr>
              <a:tr h="457200">
                <a:tc>
                  <a:txBody>
                    <a:bodyPr/>
                    <a:lstStyle/>
                    <a:p>
                      <a:r>
                        <a:rPr sz="1200">
                          <a:solidFill>
                            <a:srgbClr val="222222"/>
                          </a:solidFill>
                          <a:latin typeface="Calibri"/>
                        </a:rPr>
                        <a:t>C2 GFL + SI</a:t>
                      </a:r>
                    </a:p>
                  </a:txBody>
                  <a:tcPr marL="54864" marR="54864" marT="27432" marB="27432">
                    <a:solidFill>
                      <a:srgbClr val="F2F4F7"/>
                    </a:solidFill>
                  </a:tcPr>
                </a:tc>
                <a:tc>
                  <a:txBody>
                    <a:bodyPr/>
                    <a:lstStyle/>
                    <a:p>
                      <a:r>
                        <a:rPr sz="1200">
                          <a:solidFill>
                            <a:srgbClr val="222222"/>
                          </a:solidFill>
                          <a:latin typeface="Calibri"/>
                        </a:rPr>
                        <a:t>49.815 (11 s)</a:t>
                      </a:r>
                    </a:p>
                  </a:txBody>
                  <a:tcPr marL="54864" marR="54864" marT="27432" marB="27432">
                    <a:solidFill>
                      <a:srgbClr val="F2F4F7"/>
                    </a:solidFill>
                  </a:tcPr>
                </a:tc>
                <a:tc>
                  <a:txBody>
                    <a:bodyPr/>
                    <a:lstStyle/>
                    <a:p>
                      <a:r>
                        <a:rPr sz="1200">
                          <a:solidFill>
                            <a:srgbClr val="222222"/>
                          </a:solidFill>
                          <a:latin typeface="Calibri"/>
                        </a:rPr>
                        <a:t>0.332 Hz/s</a:t>
                      </a:r>
                    </a:p>
                  </a:txBody>
                  <a:tcPr marL="54864" marR="54864" marT="27432" marB="27432">
                    <a:solidFill>
                      <a:srgbClr val="F2F4F7"/>
                    </a:solidFill>
                  </a:tcPr>
                </a:tc>
              </a:tr>
              <a:tr h="457200">
                <a:tc>
                  <a:txBody>
                    <a:bodyPr/>
                    <a:lstStyle/>
                    <a:p>
                      <a:r>
                        <a:rPr sz="1200">
                          <a:solidFill>
                            <a:srgbClr val="222222"/>
                          </a:solidFill>
                          <a:latin typeface="Calibri"/>
                        </a:rPr>
                        <a:t>C3 GFL + reserve</a:t>
                      </a:r>
                    </a:p>
                  </a:txBody>
                  <a:tcPr marL="54864" marR="54864" marT="27432" marB="27432">
                    <a:solidFill>
                      <a:srgbClr val="FFFFFF"/>
                    </a:solidFill>
                  </a:tcPr>
                </a:tc>
                <a:tc>
                  <a:txBody>
                    <a:bodyPr/>
                    <a:lstStyle/>
                    <a:p>
                      <a:r>
                        <a:rPr sz="1200">
                          <a:solidFill>
                            <a:srgbClr val="222222"/>
                          </a:solidFill>
                          <a:latin typeface="Calibri"/>
                        </a:rPr>
                        <a:t>49.906</a:t>
                      </a:r>
                    </a:p>
                  </a:txBody>
                  <a:tcPr marL="54864" marR="54864" marT="27432" marB="27432">
                    <a:solidFill>
                      <a:srgbClr val="FFFFFF"/>
                    </a:solidFill>
                  </a:tcPr>
                </a:tc>
                <a:tc>
                  <a:txBody>
                    <a:bodyPr/>
                    <a:lstStyle/>
                    <a:p>
                      <a:r>
                        <a:rPr sz="1200">
                          <a:solidFill>
                            <a:srgbClr val="222222"/>
                          </a:solidFill>
                          <a:latin typeface="Calibri"/>
                        </a:rPr>
                        <a:t>0.332 Hz/s</a:t>
                      </a:r>
                    </a:p>
                  </a:txBody>
                  <a:tcPr marL="54864" marR="54864" marT="27432" marB="27432">
                    <a:solidFill>
                      <a:srgbClr val="FFFFFF"/>
                    </a:solidFill>
                  </a:tcPr>
                </a:tc>
              </a:tr>
              <a:tr h="457200">
                <a:tc>
                  <a:txBody>
                    <a:bodyPr/>
                    <a:lstStyle/>
                    <a:p>
                      <a:r>
                        <a:rPr sz="1200" b="1">
                          <a:solidFill>
                            <a:srgbClr val="2CA02C"/>
                          </a:solidFill>
                          <a:latin typeface="Calibri"/>
                        </a:rPr>
                        <a:t>C4 GFM + reserve</a:t>
                      </a:r>
                    </a:p>
                  </a:txBody>
                  <a:tcPr marL="54864" marR="54864" marT="27432" marB="27432">
                    <a:solidFill>
                      <a:srgbClr val="F2F4F7"/>
                    </a:solidFill>
                  </a:tcPr>
                </a:tc>
                <a:tc>
                  <a:txBody>
                    <a:bodyPr/>
                    <a:lstStyle/>
                    <a:p>
                      <a:r>
                        <a:rPr sz="1200" b="1">
                          <a:solidFill>
                            <a:srgbClr val="2CA02C"/>
                          </a:solidFill>
                          <a:latin typeface="Calibri"/>
                        </a:rPr>
                        <a:t>49.906</a:t>
                      </a:r>
                    </a:p>
                  </a:txBody>
                  <a:tcPr marL="54864" marR="54864" marT="27432" marB="27432">
                    <a:solidFill>
                      <a:srgbClr val="F2F4F7"/>
                    </a:solidFill>
                  </a:tcPr>
                </a:tc>
                <a:tc>
                  <a:txBody>
                    <a:bodyPr/>
                    <a:lstStyle/>
                    <a:p>
                      <a:r>
                        <a:rPr sz="1200" b="1">
                          <a:solidFill>
                            <a:srgbClr val="2CA02C"/>
                          </a:solidFill>
                          <a:latin typeface="Calibri"/>
                        </a:rPr>
                        <a:t>0.162 Hz/s</a:t>
                      </a:r>
                    </a:p>
                  </a:txBody>
                  <a:tcPr marL="54864" marR="54864" marT="27432" marB="27432">
                    <a:solidFill>
                      <a:srgbClr val="F2F4F7"/>
                    </a:solidFill>
                  </a:tcPr>
                </a:tc>
              </a:tr>
            </a:tbl>
          </a:graphicData>
        </a:graphic>
      </p:graphicFrame>
      <p:sp>
        <p:nvSpPr>
          <p:cNvPr id="9" name="Rounded Rectangle 8"/>
          <p:cNvSpPr/>
          <p:nvPr/>
        </p:nvSpPr>
        <p:spPr>
          <a:xfrm>
            <a:off x="8321040" y="4114800"/>
            <a:ext cx="3611880" cy="2148840"/>
          </a:xfrm>
          <a:prstGeom prst="roundRect">
            <a:avLst>
              <a:gd name="adj" fmla="val 6000"/>
            </a:avLst>
          </a:prstGeom>
          <a:solidFill>
            <a:srgbClr val="F2F4F7"/>
          </a:solidFill>
          <a:ln w="12700">
            <a:solidFill>
              <a:srgbClr val="2CA02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lnSpc>
                <a:spcPct val="115000"/>
              </a:lnSpc>
            </a:pPr>
            <a:r>
              <a:rPr sz="1300" b="1">
                <a:solidFill>
                  <a:srgbClr val="1F3A5F"/>
                </a:solidFill>
                <a:latin typeface="Calibri"/>
              </a:rPr>
              <a:t>System inertia H_sys: 3.76 s (C1) → 8.51 s (C4)</a:t>
            </a:r>
          </a:p>
          <a:p>
            <a:pPr algn="l">
              <a:lnSpc>
                <a:spcPct val="115000"/>
              </a:lnSpc>
            </a:pPr>
            <a:r>
              <a:rPr sz="1300" b="0">
                <a:solidFill>
                  <a:srgbClr val="222222"/>
                </a:solidFill>
                <a:latin typeface="Calibri"/>
              </a:rPr>
              <a:t>The reserve sets the nadir: C3 and C4 tie at 49.906 Hz.</a:t>
            </a:r>
          </a:p>
          <a:p>
            <a:pPr algn="l">
              <a:lnSpc>
                <a:spcPct val="115000"/>
              </a:lnSpc>
            </a:pPr>
            <a:r>
              <a:rPr sz="1300" b="0">
                <a:solidFill>
                  <a:srgbClr val="222222"/>
                </a:solidFill>
                <a:latin typeface="Calibri"/>
              </a:rPr>
              <a:t>Grid-forming halves the instantaneous RoCoF because it responds as a voltage source with no frequency measurement.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30000" cy="731520"/>
          </a:xfrm>
          <a:prstGeom prst="rect">
            <a:avLst/>
          </a:prstGeom>
          <a:noFill/>
        </p:spPr>
        <p:txBody>
          <a:bodyPr wrap="square" anchor="ctr" lIns="73152" rIns="73152" tIns="36576" bIns="36576">
            <a:spAutoFit/>
          </a:bodyPr>
          <a:lstStyle/>
          <a:p>
            <a:pPr algn="l">
              <a:lnSpc>
                <a:spcPct val="115000"/>
              </a:lnSpc>
            </a:pPr>
            <a:r>
              <a:rPr sz="2600" b="1">
                <a:solidFill>
                  <a:srgbClr val="FFFFFF"/>
                </a:solidFill>
                <a:latin typeface="Calibri"/>
              </a:rPr>
              <a:t>Why it works: the wind plant during the event</a:t>
            </a:r>
          </a:p>
        </p:txBody>
      </p:sp>
      <p:sp>
        <p:nvSpPr>
          <p:cNvPr id="4" name="Rectangle 3"/>
          <p:cNvSpPr/>
          <p:nvPr/>
        </p:nvSpPr>
        <p:spPr>
          <a:xfrm>
            <a:off x="0" y="868680"/>
            <a:ext cx="12191695" cy="54864"/>
          </a:xfrm>
          <a:prstGeom prst="rect">
            <a:avLst/>
          </a:prstGeom>
          <a:solidFill>
            <a:srgbClr val="2CA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6446520"/>
            <a:ext cx="9144000" cy="320040"/>
          </a:xfrm>
          <a:prstGeom prst="rect">
            <a:avLst/>
          </a:prstGeom>
          <a:noFill/>
        </p:spPr>
        <p:txBody>
          <a:bodyPr wrap="square" anchor="t" lIns="73152" rIns="73152" tIns="36576" bIns="36576">
            <a:spAutoFit/>
          </a:bodyPr>
          <a:lstStyle/>
          <a:p>
            <a:pPr algn="l">
              <a:lnSpc>
                <a:spcPct val="115000"/>
              </a:lnSpc>
            </a:pPr>
            <a:r>
              <a:rPr sz="1000" b="0">
                <a:solidFill>
                  <a:srgbClr val="5F6B7A"/>
                </a:solidFill>
                <a:latin typeface="Calibri"/>
              </a:rPr>
              <a:t>Step 1 progress report, Wind Electrical Systems, BITS Goa</a:t>
            </a:r>
          </a:p>
        </p:txBody>
      </p:sp>
      <p:sp>
        <p:nvSpPr>
          <p:cNvPr id="6" name="TextBox 5"/>
          <p:cNvSpPr txBox="1"/>
          <p:nvPr/>
        </p:nvSpPr>
        <p:spPr>
          <a:xfrm>
            <a:off x="11155680" y="6446520"/>
            <a:ext cx="731520" cy="320040"/>
          </a:xfrm>
          <a:prstGeom prst="rect">
            <a:avLst/>
          </a:prstGeom>
          <a:noFill/>
        </p:spPr>
        <p:txBody>
          <a:bodyPr wrap="square" anchor="t" lIns="73152" rIns="73152" tIns="36576" bIns="36576">
            <a:spAutoFit/>
          </a:bodyPr>
          <a:lstStyle/>
          <a:p>
            <a:pPr algn="r">
              <a:lnSpc>
                <a:spcPct val="115000"/>
              </a:lnSpc>
            </a:pPr>
            <a:r>
              <a:rPr sz="1000" b="0">
                <a:solidFill>
                  <a:srgbClr val="5F6B7A"/>
                </a:solidFill>
                <a:latin typeface="Calibri"/>
              </a:rPr>
              <a:t>8</a:t>
            </a:r>
          </a:p>
        </p:txBody>
      </p:sp>
      <p:pic>
        <p:nvPicPr>
          <p:cNvPr id="7" name="Picture 6" descr="B2_wind_response.png"/>
          <p:cNvPicPr>
            <a:picLocks noChangeAspect="1"/>
          </p:cNvPicPr>
          <p:nvPr/>
        </p:nvPicPr>
        <p:blipFill>
          <a:blip r:embed="rId3"/>
          <a:stretch>
            <a:fillRect/>
          </a:stretch>
        </p:blipFill>
        <p:spPr>
          <a:xfrm>
            <a:off x="763901" y="1051560"/>
            <a:ext cx="5970277" cy="5303520"/>
          </a:xfrm>
          <a:prstGeom prst="rect">
            <a:avLst/>
          </a:prstGeom>
        </p:spPr>
      </p:pic>
      <p:sp>
        <p:nvSpPr>
          <p:cNvPr id="8" name="Rounded Rectangle 7"/>
          <p:cNvSpPr/>
          <p:nvPr/>
        </p:nvSpPr>
        <p:spPr>
          <a:xfrm>
            <a:off x="7498079" y="1280160"/>
            <a:ext cx="4389120" cy="1463040"/>
          </a:xfrm>
          <a:prstGeom prst="roundRect">
            <a:avLst>
              <a:gd name="adj" fmla="val 6000"/>
            </a:avLst>
          </a:prstGeom>
          <a:solidFill>
            <a:srgbClr val="F2F4F7"/>
          </a:solidFill>
          <a:ln w="12700">
            <a:solidFill>
              <a:srgbClr val="2CA02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lnSpc>
                <a:spcPct val="115000"/>
              </a:lnSpc>
            </a:pPr>
            <a:r>
              <a:rPr sz="1400" b="1">
                <a:solidFill>
                  <a:srgbClr val="1F3A5F"/>
                </a:solidFill>
                <a:latin typeface="Calibri"/>
              </a:rPr>
              <a:t>Electrical power (top)</a:t>
            </a:r>
          </a:p>
          <a:p>
            <a:pPr algn="l">
              <a:lnSpc>
                <a:spcPct val="115000"/>
              </a:lnSpc>
            </a:pPr>
            <a:r>
              <a:rPr sz="1400" b="0">
                <a:solidFill>
                  <a:srgbClr val="222222"/>
                </a:solidFill>
                <a:latin typeface="Calibri"/>
              </a:rPr>
              <a:t>C2 spikes to 433 MW and decays: it only borrows. C4 steps from 360 to 397 MW and holds about 387 MW.</a:t>
            </a:r>
          </a:p>
        </p:txBody>
      </p:sp>
      <p:sp>
        <p:nvSpPr>
          <p:cNvPr id="9" name="Rounded Rectangle 8"/>
          <p:cNvSpPr/>
          <p:nvPr/>
        </p:nvSpPr>
        <p:spPr>
          <a:xfrm>
            <a:off x="7498079" y="2926080"/>
            <a:ext cx="4389120" cy="1463040"/>
          </a:xfrm>
          <a:prstGeom prst="roundRect">
            <a:avLst>
              <a:gd name="adj" fmla="val 6000"/>
            </a:avLst>
          </a:prstGeom>
          <a:solidFill>
            <a:srgbClr val="F2F4F7"/>
          </a:solidFill>
          <a:ln w="12700">
            <a:solidFill>
              <a:srgbClr val="2CA02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lnSpc>
                <a:spcPct val="115000"/>
              </a:lnSpc>
            </a:pPr>
            <a:r>
              <a:rPr sz="1400" b="1">
                <a:solidFill>
                  <a:srgbClr val="1F3A5F"/>
                </a:solidFill>
                <a:latin typeface="Calibri"/>
              </a:rPr>
              <a:t>Aerodynamic power (middle)</a:t>
            </a:r>
          </a:p>
          <a:p>
            <a:pPr algn="l">
              <a:lnSpc>
                <a:spcPct val="115000"/>
              </a:lnSpc>
            </a:pPr>
            <a:r>
              <a:rPr sz="1400" b="0">
                <a:solidFill>
                  <a:srgbClr val="222222"/>
                </a:solidFill>
                <a:latin typeface="Calibri"/>
              </a:rPr>
              <a:t>C2 falls to 394 MW as the rotor leaves the optimum. C4 rises from 360 to 386 MW as the rotor slows toward the peak.</a:t>
            </a:r>
          </a:p>
        </p:txBody>
      </p:sp>
      <p:sp>
        <p:nvSpPr>
          <p:cNvPr id="10" name="Rounded Rectangle 9"/>
          <p:cNvSpPr/>
          <p:nvPr/>
        </p:nvSpPr>
        <p:spPr>
          <a:xfrm>
            <a:off x="7498079" y="4572000"/>
            <a:ext cx="4389120" cy="1600200"/>
          </a:xfrm>
          <a:prstGeom prst="roundRect">
            <a:avLst>
              <a:gd name="adj" fmla="val 6000"/>
            </a:avLst>
          </a:prstGeom>
          <a:solidFill>
            <a:srgbClr val="F2F4F7"/>
          </a:solidFill>
          <a:ln w="12700">
            <a:solidFill>
              <a:srgbClr val="2CA02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lnSpc>
                <a:spcPct val="115000"/>
              </a:lnSpc>
            </a:pPr>
            <a:r>
              <a:rPr sz="1400" b="1">
                <a:solidFill>
                  <a:srgbClr val="1F3A5F"/>
                </a:solidFill>
                <a:latin typeface="Calibri"/>
              </a:rPr>
              <a:t>Rotor speed (bottom)</a:t>
            </a:r>
          </a:p>
          <a:p>
            <a:pPr algn="l">
              <a:lnSpc>
                <a:spcPct val="115000"/>
              </a:lnSpc>
            </a:pPr>
            <a:r>
              <a:rPr sz="1400" b="0">
                <a:solidFill>
                  <a:srgbClr val="222222"/>
                </a:solidFill>
                <a:latin typeface="Calibri"/>
              </a:rPr>
              <a:t>C2 drops below the MPPT speed, 0.750 to 0.701 pu. C4 stays above it, 0.888 to 0.831 pu: the extra 37 MW is reserve plus kinetic energy.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30000" cy="731520"/>
          </a:xfrm>
          <a:prstGeom prst="rect">
            <a:avLst/>
          </a:prstGeom>
          <a:noFill/>
        </p:spPr>
        <p:txBody>
          <a:bodyPr wrap="square" anchor="ctr" lIns="73152" rIns="73152" tIns="36576" bIns="36576">
            <a:spAutoFit/>
          </a:bodyPr>
          <a:lstStyle/>
          <a:p>
            <a:pPr algn="l">
              <a:lnSpc>
                <a:spcPct val="115000"/>
              </a:lnSpc>
            </a:pPr>
            <a:r>
              <a:rPr sz="2600" b="1">
                <a:solidFill>
                  <a:srgbClr val="FFFFFF"/>
                </a:solidFill>
                <a:latin typeface="Calibri"/>
              </a:rPr>
              <a:t>Metrics by case, and what happens as wind share grows</a:t>
            </a:r>
          </a:p>
        </p:txBody>
      </p:sp>
      <p:sp>
        <p:nvSpPr>
          <p:cNvPr id="4" name="Rectangle 3"/>
          <p:cNvSpPr/>
          <p:nvPr/>
        </p:nvSpPr>
        <p:spPr>
          <a:xfrm>
            <a:off x="0" y="868680"/>
            <a:ext cx="12191695" cy="54864"/>
          </a:xfrm>
          <a:prstGeom prst="rect">
            <a:avLst/>
          </a:prstGeom>
          <a:solidFill>
            <a:srgbClr val="2CA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6446520"/>
            <a:ext cx="9144000" cy="320040"/>
          </a:xfrm>
          <a:prstGeom prst="rect">
            <a:avLst/>
          </a:prstGeom>
          <a:noFill/>
        </p:spPr>
        <p:txBody>
          <a:bodyPr wrap="square" anchor="t" lIns="73152" rIns="73152" tIns="36576" bIns="36576">
            <a:spAutoFit/>
          </a:bodyPr>
          <a:lstStyle/>
          <a:p>
            <a:pPr algn="l">
              <a:lnSpc>
                <a:spcPct val="115000"/>
              </a:lnSpc>
            </a:pPr>
            <a:r>
              <a:rPr sz="1000" b="0">
                <a:solidFill>
                  <a:srgbClr val="5F6B7A"/>
                </a:solidFill>
                <a:latin typeface="Calibri"/>
              </a:rPr>
              <a:t>Step 1 progress report, Wind Electrical Systems, BITS Goa</a:t>
            </a:r>
          </a:p>
        </p:txBody>
      </p:sp>
      <p:sp>
        <p:nvSpPr>
          <p:cNvPr id="6" name="TextBox 5"/>
          <p:cNvSpPr txBox="1"/>
          <p:nvPr/>
        </p:nvSpPr>
        <p:spPr>
          <a:xfrm>
            <a:off x="11155680" y="6446520"/>
            <a:ext cx="731520" cy="320040"/>
          </a:xfrm>
          <a:prstGeom prst="rect">
            <a:avLst/>
          </a:prstGeom>
          <a:noFill/>
        </p:spPr>
        <p:txBody>
          <a:bodyPr wrap="square" anchor="t" lIns="73152" rIns="73152" tIns="36576" bIns="36576">
            <a:spAutoFit/>
          </a:bodyPr>
          <a:lstStyle/>
          <a:p>
            <a:pPr algn="r">
              <a:lnSpc>
                <a:spcPct val="115000"/>
              </a:lnSpc>
            </a:pPr>
            <a:r>
              <a:rPr sz="1000" b="0">
                <a:solidFill>
                  <a:srgbClr val="5F6B7A"/>
                </a:solidFill>
                <a:latin typeface="Calibri"/>
              </a:rPr>
              <a:t>9</a:t>
            </a:r>
          </a:p>
        </p:txBody>
      </p:sp>
      <p:pic>
        <p:nvPicPr>
          <p:cNvPr id="7" name="Picture 6" descr="B4_penetration.png"/>
          <p:cNvPicPr>
            <a:picLocks noChangeAspect="1"/>
          </p:cNvPicPr>
          <p:nvPr/>
        </p:nvPicPr>
        <p:blipFill>
          <a:blip r:embed="rId3"/>
          <a:stretch>
            <a:fillRect/>
          </a:stretch>
        </p:blipFill>
        <p:spPr>
          <a:xfrm>
            <a:off x="274320" y="1599203"/>
            <a:ext cx="6949440" cy="2928074"/>
          </a:xfrm>
          <a:prstGeom prst="rect">
            <a:avLst/>
          </a:prstGeom>
        </p:spPr>
      </p:pic>
      <p:pic>
        <p:nvPicPr>
          <p:cNvPr id="8" name="Picture 7" descr="B3_metrics.png"/>
          <p:cNvPicPr>
            <a:picLocks noChangeAspect="1"/>
          </p:cNvPicPr>
          <p:nvPr/>
        </p:nvPicPr>
        <p:blipFill>
          <a:blip r:embed="rId4"/>
          <a:stretch>
            <a:fillRect/>
          </a:stretch>
        </p:blipFill>
        <p:spPr>
          <a:xfrm>
            <a:off x="7315200" y="2078696"/>
            <a:ext cx="4663440" cy="1969088"/>
          </a:xfrm>
          <a:prstGeom prst="rect">
            <a:avLst/>
          </a:prstGeom>
        </p:spPr>
      </p:pic>
      <p:sp>
        <p:nvSpPr>
          <p:cNvPr id="9" name="TextBox 8"/>
          <p:cNvSpPr txBox="1"/>
          <p:nvPr/>
        </p:nvSpPr>
        <p:spPr>
          <a:xfrm>
            <a:off x="457200" y="4572000"/>
            <a:ext cx="11247120" cy="457200"/>
          </a:xfrm>
          <a:prstGeom prst="rect">
            <a:avLst/>
          </a:prstGeom>
          <a:noFill/>
        </p:spPr>
        <p:txBody>
          <a:bodyPr wrap="square" anchor="t" lIns="73152" rIns="73152" tIns="36576" bIns="36576">
            <a:spAutoFit/>
          </a:bodyPr>
          <a:lstStyle/>
          <a:p>
            <a:pPr algn="l">
              <a:lnSpc>
                <a:spcPct val="115000"/>
              </a:lnSpc>
            </a:pPr>
            <a:r>
              <a:rPr sz="1300" b="0">
                <a:solidFill>
                  <a:srgbClr val="5F6B7A"/>
                </a:solidFill>
                <a:latin typeface="Calibri"/>
              </a:rPr>
              <a:t>Left (B4): nadir and 500 ms RoCoF versus wind share. Right (B3): nadir deviation, 500 ms RoCoF and secondary dip per case at 40 percent wind.</a:t>
            </a:r>
          </a:p>
        </p:txBody>
      </p:sp>
      <p:sp>
        <p:nvSpPr>
          <p:cNvPr id="10" name="Rounded Rectangle 9"/>
          <p:cNvSpPr/>
          <p:nvPr/>
        </p:nvSpPr>
        <p:spPr>
          <a:xfrm>
            <a:off x="457200" y="5120640"/>
            <a:ext cx="11247120" cy="1143000"/>
          </a:xfrm>
          <a:prstGeom prst="roundRect">
            <a:avLst>
              <a:gd name="adj" fmla="val 6000"/>
            </a:avLst>
          </a:prstGeom>
          <a:solidFill>
            <a:srgbClr val="F2F4F7"/>
          </a:solidFill>
          <a:ln w="12700">
            <a:solidFill>
              <a:srgbClr val="2CA02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lnSpc>
                <a:spcPct val="115000"/>
              </a:lnSpc>
            </a:pPr>
            <a:r>
              <a:rPr sz="1500" b="1">
                <a:solidFill>
                  <a:srgbClr val="1F3A5F"/>
                </a:solidFill>
                <a:latin typeface="Calibri"/>
              </a:rPr>
              <a:t>10 to 60 percent wind: grid-following nadir worsens 49.751 → 49.547 Hz; grid-forming nadir improves 49.811 → 49.928 Hz. Every grid-forming turbine adds inertia and reserve, so more wind strengthens the grid.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30000" cy="731520"/>
          </a:xfrm>
          <a:prstGeom prst="rect">
            <a:avLst/>
          </a:prstGeom>
          <a:noFill/>
        </p:spPr>
        <p:txBody>
          <a:bodyPr wrap="square" anchor="ctr" lIns="73152" rIns="73152" tIns="36576" bIns="36576">
            <a:spAutoFit/>
          </a:bodyPr>
          <a:lstStyle/>
          <a:p>
            <a:pPr algn="l">
              <a:lnSpc>
                <a:spcPct val="115000"/>
              </a:lnSpc>
            </a:pPr>
            <a:r>
              <a:rPr sz="2600" b="1">
                <a:solidFill>
                  <a:srgbClr val="FFFFFF"/>
                </a:solidFill>
                <a:latin typeface="Calibri"/>
              </a:rPr>
              <a:t>Weak-grid stability: grid-following fails where grid-forming gets better</a:t>
            </a:r>
          </a:p>
        </p:txBody>
      </p:sp>
      <p:sp>
        <p:nvSpPr>
          <p:cNvPr id="4" name="Rectangle 3"/>
          <p:cNvSpPr/>
          <p:nvPr/>
        </p:nvSpPr>
        <p:spPr>
          <a:xfrm>
            <a:off x="0" y="868680"/>
            <a:ext cx="12191695" cy="54864"/>
          </a:xfrm>
          <a:prstGeom prst="rect">
            <a:avLst/>
          </a:prstGeom>
          <a:solidFill>
            <a:srgbClr val="2CA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6446520"/>
            <a:ext cx="9144000" cy="320040"/>
          </a:xfrm>
          <a:prstGeom prst="rect">
            <a:avLst/>
          </a:prstGeom>
          <a:noFill/>
        </p:spPr>
        <p:txBody>
          <a:bodyPr wrap="square" anchor="t" lIns="73152" rIns="73152" tIns="36576" bIns="36576">
            <a:spAutoFit/>
          </a:bodyPr>
          <a:lstStyle/>
          <a:p>
            <a:pPr algn="l">
              <a:lnSpc>
                <a:spcPct val="115000"/>
              </a:lnSpc>
            </a:pPr>
            <a:r>
              <a:rPr sz="1000" b="0">
                <a:solidFill>
                  <a:srgbClr val="5F6B7A"/>
                </a:solidFill>
                <a:latin typeface="Calibri"/>
              </a:rPr>
              <a:t>Step 1 progress report, Wind Electrical Systems, BITS Goa</a:t>
            </a:r>
          </a:p>
        </p:txBody>
      </p:sp>
      <p:sp>
        <p:nvSpPr>
          <p:cNvPr id="6" name="TextBox 5"/>
          <p:cNvSpPr txBox="1"/>
          <p:nvPr/>
        </p:nvSpPr>
        <p:spPr>
          <a:xfrm>
            <a:off x="11155680" y="6446520"/>
            <a:ext cx="731520" cy="320040"/>
          </a:xfrm>
          <a:prstGeom prst="rect">
            <a:avLst/>
          </a:prstGeom>
          <a:noFill/>
        </p:spPr>
        <p:txBody>
          <a:bodyPr wrap="square" anchor="t" lIns="73152" rIns="73152" tIns="36576" bIns="36576">
            <a:spAutoFit/>
          </a:bodyPr>
          <a:lstStyle/>
          <a:p>
            <a:pPr algn="r">
              <a:lnSpc>
                <a:spcPct val="115000"/>
              </a:lnSpc>
            </a:pPr>
            <a:r>
              <a:rPr sz="1000" b="0">
                <a:solidFill>
                  <a:srgbClr val="5F6B7A"/>
                </a:solidFill>
                <a:latin typeface="Calibri"/>
              </a:rPr>
              <a:t>10</a:t>
            </a:r>
          </a:p>
        </p:txBody>
      </p:sp>
      <p:pic>
        <p:nvPicPr>
          <p:cNvPr id="7" name="Picture 6" descr="C1_weakgrid_stability.png"/>
          <p:cNvPicPr>
            <a:picLocks noChangeAspect="1"/>
          </p:cNvPicPr>
          <p:nvPr/>
        </p:nvPicPr>
        <p:blipFill>
          <a:blip r:embed="rId3"/>
          <a:stretch>
            <a:fillRect/>
          </a:stretch>
        </p:blipFill>
        <p:spPr>
          <a:xfrm>
            <a:off x="274320" y="1354370"/>
            <a:ext cx="7863840" cy="3326299"/>
          </a:xfrm>
          <a:prstGeom prst="rect">
            <a:avLst/>
          </a:prstGeom>
        </p:spPr>
      </p:pic>
      <p:sp>
        <p:nvSpPr>
          <p:cNvPr id="8" name="Rounded Rectangle 7"/>
          <p:cNvSpPr/>
          <p:nvPr/>
        </p:nvSpPr>
        <p:spPr>
          <a:xfrm>
            <a:off x="8321040" y="1188720"/>
            <a:ext cx="3611880" cy="118872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40" y="1280160"/>
            <a:ext cx="3611880" cy="653796"/>
          </a:xfrm>
          <a:prstGeom prst="rect">
            <a:avLst/>
          </a:prstGeom>
          <a:noFill/>
        </p:spPr>
        <p:txBody>
          <a:bodyPr wrap="square" anchor="ctr" lIns="73152" rIns="73152" tIns="36576" bIns="36576">
            <a:spAutoFit/>
          </a:bodyPr>
          <a:lstStyle/>
          <a:p>
            <a:pPr algn="ctr">
              <a:lnSpc>
                <a:spcPct val="115000"/>
              </a:lnSpc>
            </a:pPr>
            <a:r>
              <a:rPr sz="2600" b="1">
                <a:solidFill>
                  <a:srgbClr val="D62728"/>
                </a:solidFill>
                <a:latin typeface="Calibri"/>
              </a:rPr>
              <a:t>SCR 1.30 to 1.37</a:t>
            </a:r>
          </a:p>
        </p:txBody>
      </p:sp>
      <p:sp>
        <p:nvSpPr>
          <p:cNvPr id="10" name="TextBox 9"/>
          <p:cNvSpPr txBox="1"/>
          <p:nvPr/>
        </p:nvSpPr>
        <p:spPr>
          <a:xfrm>
            <a:off x="8321040" y="1842516"/>
            <a:ext cx="3611880" cy="499262"/>
          </a:xfrm>
          <a:prstGeom prst="rect">
            <a:avLst/>
          </a:prstGeom>
          <a:noFill/>
        </p:spPr>
        <p:txBody>
          <a:bodyPr wrap="square" anchor="t" lIns="73152" rIns="73152" tIns="36576" bIns="36576">
            <a:spAutoFit/>
          </a:bodyPr>
          <a:lstStyle/>
          <a:p>
            <a:pPr algn="ctr">
              <a:lnSpc>
                <a:spcPct val="115000"/>
              </a:lnSpc>
            </a:pPr>
            <a:r>
              <a:rPr sz="1300" b="0">
                <a:solidFill>
                  <a:srgbClr val="5F6B7A"/>
                </a:solidFill>
                <a:latin typeface="Calibri"/>
              </a:rPr>
              <a:t>grid-following loses stability (40 / 20 / 10 Hz PLL); IEEE 1204 weak-grid threshold is SCR 3</a:t>
            </a:r>
          </a:p>
        </p:txBody>
      </p:sp>
      <p:sp>
        <p:nvSpPr>
          <p:cNvPr id="11" name="Rounded Rectangle 10"/>
          <p:cNvSpPr/>
          <p:nvPr/>
        </p:nvSpPr>
        <p:spPr>
          <a:xfrm>
            <a:off x="8321040" y="2560320"/>
            <a:ext cx="3611880" cy="118872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0" y="2651760"/>
            <a:ext cx="3611880" cy="653796"/>
          </a:xfrm>
          <a:prstGeom prst="rect">
            <a:avLst/>
          </a:prstGeom>
          <a:noFill/>
        </p:spPr>
        <p:txBody>
          <a:bodyPr wrap="square" anchor="ctr" lIns="73152" rIns="73152" tIns="36576" bIns="36576">
            <a:spAutoFit/>
          </a:bodyPr>
          <a:lstStyle/>
          <a:p>
            <a:pPr algn="ctr">
              <a:lnSpc>
                <a:spcPct val="115000"/>
              </a:lnSpc>
            </a:pPr>
            <a:r>
              <a:rPr sz="2600" b="1">
                <a:solidFill>
                  <a:srgbClr val="2CA02C"/>
                </a:solidFill>
                <a:latin typeface="Calibri"/>
              </a:rPr>
              <a:t>stable to SCR 1.0</a:t>
            </a:r>
          </a:p>
        </p:txBody>
      </p:sp>
      <p:sp>
        <p:nvSpPr>
          <p:cNvPr id="13" name="TextBox 12"/>
          <p:cNvSpPr txBox="1"/>
          <p:nvPr/>
        </p:nvSpPr>
        <p:spPr>
          <a:xfrm>
            <a:off x="8321040" y="3214116"/>
            <a:ext cx="3611880" cy="499262"/>
          </a:xfrm>
          <a:prstGeom prst="rect">
            <a:avLst/>
          </a:prstGeom>
          <a:noFill/>
        </p:spPr>
        <p:txBody>
          <a:bodyPr wrap="square" anchor="t" lIns="73152" rIns="73152" tIns="36576" bIns="36576">
            <a:spAutoFit/>
          </a:bodyPr>
          <a:lstStyle/>
          <a:p>
            <a:pPr algn="ctr">
              <a:lnSpc>
                <a:spcPct val="115000"/>
              </a:lnSpc>
            </a:pPr>
            <a:r>
              <a:rPr sz="1300" b="0">
                <a:solidFill>
                  <a:srgbClr val="5F6B7A"/>
                </a:solidFill>
                <a:latin typeface="Calibri"/>
              </a:rPr>
              <a:t>grid-forming VSM stays stable to the static limit; damping rises as the grid weakens</a:t>
            </a:r>
          </a:p>
        </p:txBody>
      </p:sp>
      <p:sp>
        <p:nvSpPr>
          <p:cNvPr id="14" name="Rounded Rectangle 13"/>
          <p:cNvSpPr/>
          <p:nvPr/>
        </p:nvSpPr>
        <p:spPr>
          <a:xfrm>
            <a:off x="8321040" y="3931920"/>
            <a:ext cx="3611880" cy="118872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4023360"/>
            <a:ext cx="3611880" cy="653796"/>
          </a:xfrm>
          <a:prstGeom prst="rect">
            <a:avLst/>
          </a:prstGeom>
          <a:noFill/>
        </p:spPr>
        <p:txBody>
          <a:bodyPr wrap="square" anchor="ctr" lIns="73152" rIns="73152" tIns="36576" bIns="36576">
            <a:spAutoFit/>
          </a:bodyPr>
          <a:lstStyle/>
          <a:p>
            <a:pPr algn="ctr">
              <a:lnSpc>
                <a:spcPct val="115000"/>
              </a:lnSpc>
            </a:pPr>
            <a:r>
              <a:rPr sz="2600" b="1">
                <a:solidFill>
                  <a:srgbClr val="1F3A5F"/>
                </a:solidFill>
                <a:latin typeface="Calibri"/>
              </a:rPr>
              <a:t>ζ 0.25 → 0.60</a:t>
            </a:r>
          </a:p>
        </p:txBody>
      </p:sp>
      <p:sp>
        <p:nvSpPr>
          <p:cNvPr id="16" name="TextBox 15"/>
          <p:cNvSpPr txBox="1"/>
          <p:nvPr/>
        </p:nvSpPr>
        <p:spPr>
          <a:xfrm>
            <a:off x="8321040" y="4585716"/>
            <a:ext cx="3611880" cy="499262"/>
          </a:xfrm>
          <a:prstGeom prst="rect">
            <a:avLst/>
          </a:prstGeom>
          <a:noFill/>
        </p:spPr>
        <p:txBody>
          <a:bodyPr wrap="square" anchor="t" lIns="73152" rIns="73152" tIns="36576" bIns="36576">
            <a:spAutoFit/>
          </a:bodyPr>
          <a:lstStyle/>
          <a:p>
            <a:pPr algn="ctr">
              <a:lnSpc>
                <a:spcPct val="115000"/>
              </a:lnSpc>
            </a:pPr>
            <a:r>
              <a:rPr sz="1300" b="0">
                <a:solidFill>
                  <a:srgbClr val="5F6B7A"/>
                </a:solidFill>
                <a:latin typeface="Calibri"/>
              </a:rPr>
              <a:t>damping of the proposed plant as its connection weakens from SCR 3 to 1 (nadir unchanged)</a:t>
            </a:r>
          </a:p>
        </p:txBody>
      </p:sp>
      <p:sp>
        <p:nvSpPr>
          <p:cNvPr id="17" name="Rounded Rectangle 16"/>
          <p:cNvSpPr/>
          <p:nvPr/>
        </p:nvSpPr>
        <p:spPr>
          <a:xfrm>
            <a:off x="457200" y="5257800"/>
            <a:ext cx="11475720" cy="1051560"/>
          </a:xfrm>
          <a:prstGeom prst="roundRect">
            <a:avLst>
              <a:gd name="adj" fmla="val 6000"/>
            </a:avLst>
          </a:prstGeom>
          <a:solidFill>
            <a:srgbClr val="F2F4F7"/>
          </a:solidFill>
          <a:ln w="12700">
            <a:solidFill>
              <a:srgbClr val="2CA02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lnSpc>
                <a:spcPct val="115000"/>
              </a:lnSpc>
            </a:pPr>
            <a:r>
              <a:rPr sz="1500" b="1">
                <a:solidFill>
                  <a:srgbClr val="1F3A5F"/>
                </a:solidFill>
                <a:latin typeface="Calibri"/>
              </a:rPr>
              <a:t>Duality (Li, Gu and Green, 2022): grid-following likes a stiff grid, grid-forming likes a weak one. Weak Indian RE hubs are exactly where grid-forming wind belongs.</a:t>
            </a:r>
          </a:p>
          <a:p>
            <a:pPr algn="l">
              <a:lnSpc>
                <a:spcPct val="115000"/>
              </a:lnSpc>
            </a:pPr>
            <a:r>
              <a:rPr sz="1300" b="0">
                <a:solidFill>
                  <a:srgbClr val="5F6B7A"/>
                </a:solidFill>
                <a:latin typeface="Calibri"/>
              </a:rPr>
              <a:t>Quasi-static model: PLL bandwidth shifts the critical SCR only slightly here; the fast-PLL penalty needs the electromagnetic network dynamics planned for Step 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30000" cy="731520"/>
          </a:xfrm>
          <a:prstGeom prst="rect">
            <a:avLst/>
          </a:prstGeom>
          <a:noFill/>
        </p:spPr>
        <p:txBody>
          <a:bodyPr wrap="square" anchor="ctr" lIns="73152" rIns="73152" tIns="36576" bIns="36576">
            <a:spAutoFit/>
          </a:bodyPr>
          <a:lstStyle/>
          <a:p>
            <a:pPr algn="l">
              <a:lnSpc>
                <a:spcPct val="115000"/>
              </a:lnSpc>
            </a:pPr>
            <a:r>
              <a:rPr sz="2600" b="1">
                <a:solidFill>
                  <a:srgbClr val="FFFFFF"/>
                </a:solidFill>
                <a:latin typeface="Calibri"/>
              </a:rPr>
              <a:t>Verification: 16 checks against hand-derivable results, all pass</a:t>
            </a:r>
          </a:p>
        </p:txBody>
      </p:sp>
      <p:sp>
        <p:nvSpPr>
          <p:cNvPr id="4" name="Rectangle 3"/>
          <p:cNvSpPr/>
          <p:nvPr/>
        </p:nvSpPr>
        <p:spPr>
          <a:xfrm>
            <a:off x="0" y="868680"/>
            <a:ext cx="12191695" cy="54864"/>
          </a:xfrm>
          <a:prstGeom prst="rect">
            <a:avLst/>
          </a:prstGeom>
          <a:solidFill>
            <a:srgbClr val="2CA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6446520"/>
            <a:ext cx="9144000" cy="320040"/>
          </a:xfrm>
          <a:prstGeom prst="rect">
            <a:avLst/>
          </a:prstGeom>
          <a:noFill/>
        </p:spPr>
        <p:txBody>
          <a:bodyPr wrap="square" anchor="t" lIns="73152" rIns="73152" tIns="36576" bIns="36576">
            <a:spAutoFit/>
          </a:bodyPr>
          <a:lstStyle/>
          <a:p>
            <a:pPr algn="l">
              <a:lnSpc>
                <a:spcPct val="115000"/>
              </a:lnSpc>
            </a:pPr>
            <a:r>
              <a:rPr sz="1000" b="0">
                <a:solidFill>
                  <a:srgbClr val="5F6B7A"/>
                </a:solidFill>
                <a:latin typeface="Calibri"/>
              </a:rPr>
              <a:t>Step 1 progress report, Wind Electrical Systems, BITS Goa</a:t>
            </a:r>
          </a:p>
        </p:txBody>
      </p:sp>
      <p:sp>
        <p:nvSpPr>
          <p:cNvPr id="6" name="TextBox 5"/>
          <p:cNvSpPr txBox="1"/>
          <p:nvPr/>
        </p:nvSpPr>
        <p:spPr>
          <a:xfrm>
            <a:off x="11155680" y="6446520"/>
            <a:ext cx="731520" cy="320040"/>
          </a:xfrm>
          <a:prstGeom prst="rect">
            <a:avLst/>
          </a:prstGeom>
          <a:noFill/>
        </p:spPr>
        <p:txBody>
          <a:bodyPr wrap="square" anchor="t" lIns="73152" rIns="73152" tIns="36576" bIns="36576">
            <a:spAutoFit/>
          </a:bodyPr>
          <a:lstStyle/>
          <a:p>
            <a:pPr algn="r">
              <a:lnSpc>
                <a:spcPct val="115000"/>
              </a:lnSpc>
            </a:pPr>
            <a:r>
              <a:rPr sz="1000" b="0">
                <a:solidFill>
                  <a:srgbClr val="5F6B7A"/>
                </a:solidFill>
                <a:latin typeface="Calibri"/>
              </a:rPr>
              <a:t>11</a:t>
            </a:r>
          </a:p>
        </p:txBody>
      </p:sp>
      <p:graphicFrame>
        <p:nvGraphicFramePr>
          <p:cNvPr id="7" name="Table 6"/>
          <p:cNvGraphicFramePr>
            <a:graphicFrameLocks noGrp="1"/>
          </p:cNvGraphicFramePr>
          <p:nvPr/>
        </p:nvGraphicFramePr>
        <p:xfrm>
          <a:off x="365760" y="1097280"/>
          <a:ext cx="11429999" cy="5212080"/>
        </p:xfrm>
        <a:graphic>
          <a:graphicData uri="http://schemas.openxmlformats.org/drawingml/2006/table">
            <a:tbl>
              <a:tblPr firstRow="1" bandRow="1">
                <a:tableStyleId>{5C22544A-7EE6-4342-B048-85BDC9FD1C3A}</a:tableStyleId>
              </a:tblPr>
              <a:tblGrid>
                <a:gridCol w="747757"/>
                <a:gridCol w="6729813"/>
                <a:gridCol w="2991028"/>
                <a:gridCol w="961401"/>
              </a:tblGrid>
              <a:tr h="306592">
                <a:tc>
                  <a:txBody>
                    <a:bodyPr/>
                    <a:lstStyle/>
                    <a:p>
                      <a:r>
                        <a:rPr sz="1100" b="1">
                          <a:solidFill>
                            <a:srgbClr val="FFFFFF"/>
                          </a:solidFill>
                          <a:latin typeface="Calibri"/>
                        </a:rPr>
                        <a:t>Gate</a:t>
                      </a:r>
                    </a:p>
                  </a:txBody>
                  <a:tcPr marL="54864" marR="54864" marT="27432" marB="27432">
                    <a:solidFill>
                      <a:srgbClr val="1F3A5F"/>
                    </a:solidFill>
                  </a:tcPr>
                </a:tc>
                <a:tc>
                  <a:txBody>
                    <a:bodyPr/>
                    <a:lstStyle/>
                    <a:p>
                      <a:r>
                        <a:rPr sz="1100" b="1">
                          <a:solidFill>
                            <a:srgbClr val="FFFFFF"/>
                          </a:solidFill>
                          <a:latin typeface="Calibri"/>
                        </a:rPr>
                        <a:t>What it checks</a:t>
                      </a:r>
                    </a:p>
                  </a:txBody>
                  <a:tcPr marL="54864" marR="54864" marT="27432" marB="27432">
                    <a:solidFill>
                      <a:srgbClr val="1F3A5F"/>
                    </a:solidFill>
                  </a:tcPr>
                </a:tc>
                <a:tc>
                  <a:txBody>
                    <a:bodyPr/>
                    <a:lstStyle/>
                    <a:p>
                      <a:r>
                        <a:rPr sz="1100" b="1">
                          <a:solidFill>
                            <a:srgbClr val="FFFFFF"/>
                          </a:solidFill>
                          <a:latin typeface="Calibri"/>
                        </a:rPr>
                        <a:t>Value</a:t>
                      </a:r>
                    </a:p>
                  </a:txBody>
                  <a:tcPr marL="54864" marR="54864" marT="27432" marB="27432">
                    <a:solidFill>
                      <a:srgbClr val="1F3A5F"/>
                    </a:solidFill>
                  </a:tcPr>
                </a:tc>
                <a:tc>
                  <a:txBody>
                    <a:bodyPr/>
                    <a:lstStyle/>
                    <a:p>
                      <a:r>
                        <a:rPr sz="1100" b="1">
                          <a:solidFill>
                            <a:srgbClr val="FFFFFF"/>
                          </a:solidFill>
                          <a:latin typeface="Calibri"/>
                        </a:rPr>
                        <a:t>Result</a:t>
                      </a:r>
                    </a:p>
                  </a:txBody>
                  <a:tcPr marL="54864" marR="54864" marT="27432" marB="27432">
                    <a:solidFill>
                      <a:srgbClr val="1F3A5F"/>
                    </a:solidFill>
                  </a:tcPr>
                </a:tc>
              </a:tr>
              <a:tr h="306592">
                <a:tc>
                  <a:txBody>
                    <a:bodyPr/>
                    <a:lstStyle/>
                    <a:p>
                      <a:r>
                        <a:rPr sz="1100">
                          <a:solidFill>
                            <a:srgbClr val="222222"/>
                          </a:solidFill>
                          <a:latin typeface="Calibri"/>
                        </a:rPr>
                        <a:t>GA1</a:t>
                      </a:r>
                    </a:p>
                  </a:txBody>
                  <a:tcPr marL="54864" marR="54864" marT="27432" marB="27432">
                    <a:solidFill>
                      <a:srgbClr val="F2F4F7"/>
                    </a:solidFill>
                  </a:tcPr>
                </a:tc>
                <a:tc>
                  <a:txBody>
                    <a:bodyPr/>
                    <a:lstStyle/>
                    <a:p>
                      <a:r>
                        <a:rPr sz="1100">
                          <a:solidFill>
                            <a:srgbClr val="222222"/>
                          </a:solidFill>
                          <a:latin typeface="Calibri"/>
                        </a:rPr>
                        <a:t>Cp,max below the Betz limit</a:t>
                      </a:r>
                    </a:p>
                  </a:txBody>
                  <a:tcPr marL="54864" marR="54864" marT="27432" marB="27432">
                    <a:solidFill>
                      <a:srgbClr val="F2F4F7"/>
                    </a:solidFill>
                  </a:tcPr>
                </a:tc>
                <a:tc>
                  <a:txBody>
                    <a:bodyPr/>
                    <a:lstStyle/>
                    <a:p>
                      <a:r>
                        <a:rPr sz="1100">
                          <a:solidFill>
                            <a:srgbClr val="222222"/>
                          </a:solidFill>
                          <a:latin typeface="Calibri"/>
                        </a:rPr>
                        <a:t>0.480 &lt; 0.593</a:t>
                      </a:r>
                    </a:p>
                  </a:txBody>
                  <a:tcPr marL="54864" marR="54864" marT="27432" marB="27432">
                    <a:solidFill>
                      <a:srgbClr val="F2F4F7"/>
                    </a:solidFill>
                  </a:tcPr>
                </a:tc>
                <a:tc>
                  <a:txBody>
                    <a:bodyPr/>
                    <a:lstStyle/>
                    <a:p>
                      <a:r>
                        <a:rPr sz="1100">
                          <a:solidFill>
                            <a:srgbClr val="222222"/>
                          </a:solidFill>
                          <a:latin typeface="Calibri"/>
                        </a:rPr>
                        <a:t>PASS</a:t>
                      </a:r>
                    </a:p>
                  </a:txBody>
                  <a:tcPr marL="54864" marR="54864" marT="27432" marB="27432">
                    <a:solidFill>
                      <a:srgbClr val="F2F4F7"/>
                    </a:solidFill>
                  </a:tcPr>
                </a:tc>
              </a:tr>
              <a:tr h="306592">
                <a:tc>
                  <a:txBody>
                    <a:bodyPr/>
                    <a:lstStyle/>
                    <a:p>
                      <a:r>
                        <a:rPr sz="1100">
                          <a:solidFill>
                            <a:srgbClr val="222222"/>
                          </a:solidFill>
                          <a:latin typeface="Calibri"/>
                        </a:rPr>
                        <a:t>GA2</a:t>
                      </a:r>
                    </a:p>
                  </a:txBody>
                  <a:tcPr marL="54864" marR="54864" marT="27432" marB="27432">
                    <a:solidFill>
                      <a:srgbClr val="FFFFFF"/>
                    </a:solidFill>
                  </a:tcPr>
                </a:tc>
                <a:tc>
                  <a:txBody>
                    <a:bodyPr/>
                    <a:lstStyle/>
                    <a:p>
                      <a:r>
                        <a:rPr sz="1100">
                          <a:solidFill>
                            <a:srgbClr val="222222"/>
                          </a:solidFill>
                          <a:latin typeface="Calibri"/>
                        </a:rPr>
                        <a:t>λ_opt and Cp,max in the expected range for the Heier model</a:t>
                      </a:r>
                    </a:p>
                  </a:txBody>
                  <a:tcPr marL="54864" marR="54864" marT="27432" marB="27432">
                    <a:solidFill>
                      <a:srgbClr val="FFFFFF"/>
                    </a:solidFill>
                  </a:tcPr>
                </a:tc>
                <a:tc>
                  <a:txBody>
                    <a:bodyPr/>
                    <a:lstStyle/>
                    <a:p>
                      <a:r>
                        <a:rPr sz="1100">
                          <a:solidFill>
                            <a:srgbClr val="222222"/>
                          </a:solidFill>
                          <a:latin typeface="Calibri"/>
                        </a:rPr>
                        <a:t>8.10, 0.480</a:t>
                      </a:r>
                    </a:p>
                  </a:txBody>
                  <a:tcPr marL="54864" marR="54864" marT="27432" marB="27432">
                    <a:solidFill>
                      <a:srgbClr val="FFFFFF"/>
                    </a:solidFill>
                  </a:tcPr>
                </a:tc>
                <a:tc>
                  <a:txBody>
                    <a:bodyPr/>
                    <a:lstStyle/>
                    <a:p>
                      <a:r>
                        <a:rPr sz="1100">
                          <a:solidFill>
                            <a:srgbClr val="222222"/>
                          </a:solidFill>
                          <a:latin typeface="Calibri"/>
                        </a:rPr>
                        <a:t>PASS</a:t>
                      </a:r>
                    </a:p>
                  </a:txBody>
                  <a:tcPr marL="54864" marR="54864" marT="27432" marB="27432">
                    <a:solidFill>
                      <a:srgbClr val="FFFFFF"/>
                    </a:solidFill>
                  </a:tcPr>
                </a:tc>
              </a:tr>
              <a:tr h="306592">
                <a:tc>
                  <a:txBody>
                    <a:bodyPr/>
                    <a:lstStyle/>
                    <a:p>
                      <a:r>
                        <a:rPr sz="1100">
                          <a:solidFill>
                            <a:srgbClr val="222222"/>
                          </a:solidFill>
                          <a:latin typeface="Calibri"/>
                        </a:rPr>
                        <a:t>GA3</a:t>
                      </a:r>
                    </a:p>
                  </a:txBody>
                  <a:tcPr marL="54864" marR="54864" marT="27432" marB="27432">
                    <a:solidFill>
                      <a:srgbClr val="F2F4F7"/>
                    </a:solidFill>
                  </a:tcPr>
                </a:tc>
                <a:tc>
                  <a:txBody>
                    <a:bodyPr/>
                    <a:lstStyle/>
                    <a:p>
                      <a:r>
                        <a:rPr sz="1100">
                          <a:solidFill>
                            <a:srgbClr val="222222"/>
                          </a:solidFill>
                          <a:latin typeface="Calibri"/>
                        </a:rPr>
                        <a:t>MPPT power at 12 m/s equals the 2 MW rating</a:t>
                      </a:r>
                    </a:p>
                  </a:txBody>
                  <a:tcPr marL="54864" marR="54864" marT="27432" marB="27432">
                    <a:solidFill>
                      <a:srgbClr val="F2F4F7"/>
                    </a:solidFill>
                  </a:tcPr>
                </a:tc>
                <a:tc>
                  <a:txBody>
                    <a:bodyPr/>
                    <a:lstStyle/>
                    <a:p>
                      <a:r>
                        <a:rPr sz="1100">
                          <a:solidFill>
                            <a:srgbClr val="222222"/>
                          </a:solidFill>
                          <a:latin typeface="Calibri"/>
                        </a:rPr>
                        <a:t>2.000 MW</a:t>
                      </a:r>
                    </a:p>
                  </a:txBody>
                  <a:tcPr marL="54864" marR="54864" marT="27432" marB="27432">
                    <a:solidFill>
                      <a:srgbClr val="F2F4F7"/>
                    </a:solidFill>
                  </a:tcPr>
                </a:tc>
                <a:tc>
                  <a:txBody>
                    <a:bodyPr/>
                    <a:lstStyle/>
                    <a:p>
                      <a:r>
                        <a:rPr sz="1100">
                          <a:solidFill>
                            <a:srgbClr val="222222"/>
                          </a:solidFill>
                          <a:latin typeface="Calibri"/>
                        </a:rPr>
                        <a:t>PASS</a:t>
                      </a:r>
                    </a:p>
                  </a:txBody>
                  <a:tcPr marL="54864" marR="54864" marT="27432" marB="27432">
                    <a:solidFill>
                      <a:srgbClr val="F2F4F7"/>
                    </a:solidFill>
                  </a:tcPr>
                </a:tc>
              </a:tr>
              <a:tr h="306592">
                <a:tc>
                  <a:txBody>
                    <a:bodyPr/>
                    <a:lstStyle/>
                    <a:p>
                      <a:r>
                        <a:rPr sz="1100">
                          <a:solidFill>
                            <a:srgbClr val="222222"/>
                          </a:solidFill>
                          <a:latin typeface="Calibri"/>
                        </a:rPr>
                        <a:t>GA4</a:t>
                      </a:r>
                    </a:p>
                  </a:txBody>
                  <a:tcPr marL="54864" marR="54864" marT="27432" marB="27432">
                    <a:solidFill>
                      <a:srgbClr val="FFFFFF"/>
                    </a:solidFill>
                  </a:tcPr>
                </a:tc>
                <a:tc>
                  <a:txBody>
                    <a:bodyPr/>
                    <a:lstStyle/>
                    <a:p>
                      <a:r>
                        <a:rPr sz="1100">
                          <a:solidFill>
                            <a:srgbClr val="222222"/>
                          </a:solidFill>
                          <a:latin typeface="Calibri"/>
                        </a:rPr>
                        <a:t>Deloaded operating point reproduces 0.9 P_avail at every wind speed</a:t>
                      </a:r>
                    </a:p>
                  </a:txBody>
                  <a:tcPr marL="54864" marR="54864" marT="27432" marB="27432">
                    <a:solidFill>
                      <a:srgbClr val="FFFFFF"/>
                    </a:solidFill>
                  </a:tcPr>
                </a:tc>
                <a:tc>
                  <a:txBody>
                    <a:bodyPr/>
                    <a:lstStyle/>
                    <a:p>
                      <a:r>
                        <a:rPr sz="1100">
                          <a:solidFill>
                            <a:srgbClr val="222222"/>
                          </a:solidFill>
                          <a:latin typeface="Calibri"/>
                        </a:rPr>
                        <a:t>max error 6e-14</a:t>
                      </a:r>
                    </a:p>
                  </a:txBody>
                  <a:tcPr marL="54864" marR="54864" marT="27432" marB="27432">
                    <a:solidFill>
                      <a:srgbClr val="FFFFFF"/>
                    </a:solidFill>
                  </a:tcPr>
                </a:tc>
                <a:tc>
                  <a:txBody>
                    <a:bodyPr/>
                    <a:lstStyle/>
                    <a:p>
                      <a:r>
                        <a:rPr sz="1100">
                          <a:solidFill>
                            <a:srgbClr val="222222"/>
                          </a:solidFill>
                          <a:latin typeface="Calibri"/>
                        </a:rPr>
                        <a:t>PASS</a:t>
                      </a:r>
                    </a:p>
                  </a:txBody>
                  <a:tcPr marL="54864" marR="54864" marT="27432" marB="27432">
                    <a:solidFill>
                      <a:srgbClr val="FFFFFF"/>
                    </a:solidFill>
                  </a:tcPr>
                </a:tc>
              </a:tr>
              <a:tr h="306592">
                <a:tc>
                  <a:txBody>
                    <a:bodyPr/>
                    <a:lstStyle/>
                    <a:p>
                      <a:r>
                        <a:rPr sz="1100">
                          <a:solidFill>
                            <a:srgbClr val="222222"/>
                          </a:solidFill>
                          <a:latin typeface="Calibri"/>
                        </a:rPr>
                        <a:t>GA5</a:t>
                      </a:r>
                    </a:p>
                  </a:txBody>
                  <a:tcPr marL="54864" marR="54864" marT="27432" marB="27432">
                    <a:solidFill>
                      <a:srgbClr val="F2F4F7"/>
                    </a:solidFill>
                  </a:tcPr>
                </a:tc>
                <a:tc>
                  <a:txBody>
                    <a:bodyPr/>
                    <a:lstStyle/>
                    <a:p>
                      <a:r>
                        <a:rPr sz="1100">
                          <a:solidFill>
                            <a:srgbClr val="222222"/>
                          </a:solidFill>
                          <a:latin typeface="Calibri"/>
                        </a:rPr>
                        <a:t>Deloaded speed above MPPT speed in every overspeed case</a:t>
                      </a:r>
                    </a:p>
                  </a:txBody>
                  <a:tcPr marL="54864" marR="54864" marT="27432" marB="27432">
                    <a:solidFill>
                      <a:srgbClr val="F2F4F7"/>
                    </a:solidFill>
                  </a:tcPr>
                </a:tc>
                <a:tc>
                  <a:txBody>
                    <a:bodyPr/>
                    <a:lstStyle/>
                    <a:p>
                      <a:r>
                        <a:rPr sz="1100">
                          <a:solidFill>
                            <a:srgbClr val="222222"/>
                          </a:solidFill>
                          <a:latin typeface="Calibri"/>
                        </a:rPr>
                        <a:t>yes, 6 to 11 m/s</a:t>
                      </a:r>
                    </a:p>
                  </a:txBody>
                  <a:tcPr marL="54864" marR="54864" marT="27432" marB="27432">
                    <a:solidFill>
                      <a:srgbClr val="F2F4F7"/>
                    </a:solidFill>
                  </a:tcPr>
                </a:tc>
                <a:tc>
                  <a:txBody>
                    <a:bodyPr/>
                    <a:lstStyle/>
                    <a:p>
                      <a:r>
                        <a:rPr sz="1100">
                          <a:solidFill>
                            <a:srgbClr val="222222"/>
                          </a:solidFill>
                          <a:latin typeface="Calibri"/>
                        </a:rPr>
                        <a:t>PASS</a:t>
                      </a:r>
                    </a:p>
                  </a:txBody>
                  <a:tcPr marL="54864" marR="54864" marT="27432" marB="27432">
                    <a:solidFill>
                      <a:srgbClr val="F2F4F7"/>
                    </a:solidFill>
                  </a:tcPr>
                </a:tc>
              </a:tr>
              <a:tr h="306592">
                <a:tc>
                  <a:txBody>
                    <a:bodyPr/>
                    <a:lstStyle/>
                    <a:p>
                      <a:r>
                        <a:rPr sz="1100">
                          <a:solidFill>
                            <a:srgbClr val="222222"/>
                          </a:solidFill>
                          <a:latin typeface="Calibri"/>
                        </a:rPr>
                        <a:t>GA6</a:t>
                      </a:r>
                    </a:p>
                  </a:txBody>
                  <a:tcPr marL="54864" marR="54864" marT="27432" marB="27432">
                    <a:solidFill>
                      <a:srgbClr val="FFFFFF"/>
                    </a:solidFill>
                  </a:tcPr>
                </a:tc>
                <a:tc>
                  <a:txBody>
                    <a:bodyPr/>
                    <a:lstStyle/>
                    <a:p>
                      <a:r>
                        <a:rPr sz="1100">
                          <a:solidFill>
                            <a:srgbClr val="222222"/>
                          </a:solidFill>
                          <a:latin typeface="Calibri"/>
                        </a:rPr>
                        <a:t>Annual-energy loss of the deloaded case equals 10 percent</a:t>
                      </a:r>
                    </a:p>
                  </a:txBody>
                  <a:tcPr marL="54864" marR="54864" marT="27432" marB="27432">
                    <a:solidFill>
                      <a:srgbClr val="FFFFFF"/>
                    </a:solidFill>
                  </a:tcPr>
                </a:tc>
                <a:tc>
                  <a:txBody>
                    <a:bodyPr/>
                    <a:lstStyle/>
                    <a:p>
                      <a:r>
                        <a:rPr sz="1100">
                          <a:solidFill>
                            <a:srgbClr val="222222"/>
                          </a:solidFill>
                          <a:latin typeface="Calibri"/>
                        </a:rPr>
                        <a:t>10.000 percent</a:t>
                      </a:r>
                    </a:p>
                  </a:txBody>
                  <a:tcPr marL="54864" marR="54864" marT="27432" marB="27432">
                    <a:solidFill>
                      <a:srgbClr val="FFFFFF"/>
                    </a:solidFill>
                  </a:tcPr>
                </a:tc>
                <a:tc>
                  <a:txBody>
                    <a:bodyPr/>
                    <a:lstStyle/>
                    <a:p>
                      <a:r>
                        <a:rPr sz="1100">
                          <a:solidFill>
                            <a:srgbClr val="222222"/>
                          </a:solidFill>
                          <a:latin typeface="Calibri"/>
                        </a:rPr>
                        <a:t>PASS</a:t>
                      </a:r>
                    </a:p>
                  </a:txBody>
                  <a:tcPr marL="54864" marR="54864" marT="27432" marB="27432">
                    <a:solidFill>
                      <a:srgbClr val="FFFFFF"/>
                    </a:solidFill>
                  </a:tcPr>
                </a:tc>
              </a:tr>
              <a:tr h="306592">
                <a:tc>
                  <a:txBody>
                    <a:bodyPr/>
                    <a:lstStyle/>
                    <a:p>
                      <a:r>
                        <a:rPr sz="1100">
                          <a:solidFill>
                            <a:srgbClr val="222222"/>
                          </a:solidFill>
                          <a:latin typeface="Calibri"/>
                        </a:rPr>
                        <a:t>GB1</a:t>
                      </a:r>
                    </a:p>
                  </a:txBody>
                  <a:tcPr marL="54864" marR="54864" marT="27432" marB="27432">
                    <a:solidFill>
                      <a:srgbClr val="F2F4F7"/>
                    </a:solidFill>
                  </a:tcPr>
                </a:tc>
                <a:tc>
                  <a:txBody>
                    <a:bodyPr/>
                    <a:lstStyle/>
                    <a:p>
                      <a:r>
                        <a:rPr sz="1100">
                          <a:solidFill>
                            <a:srgbClr val="222222"/>
                          </a:solidFill>
                          <a:latin typeface="Calibri"/>
                        </a:rPr>
                        <a:t>Exact pre-event steady state (no drift before the step)</a:t>
                      </a:r>
                    </a:p>
                  </a:txBody>
                  <a:tcPr marL="54864" marR="54864" marT="27432" marB="27432">
                    <a:solidFill>
                      <a:srgbClr val="F2F4F7"/>
                    </a:solidFill>
                  </a:tcPr>
                </a:tc>
                <a:tc>
                  <a:txBody>
                    <a:bodyPr/>
                    <a:lstStyle/>
                    <a:p>
                      <a:r>
                        <a:rPr sz="1100">
                          <a:solidFill>
                            <a:srgbClr val="222222"/>
                          </a:solidFill>
                          <a:latin typeface="Calibri"/>
                        </a:rPr>
                        <a:t>|Δf| = 0</a:t>
                      </a:r>
                    </a:p>
                  </a:txBody>
                  <a:tcPr marL="54864" marR="54864" marT="27432" marB="27432">
                    <a:solidFill>
                      <a:srgbClr val="F2F4F7"/>
                    </a:solidFill>
                  </a:tcPr>
                </a:tc>
                <a:tc>
                  <a:txBody>
                    <a:bodyPr/>
                    <a:lstStyle/>
                    <a:p>
                      <a:r>
                        <a:rPr sz="1100">
                          <a:solidFill>
                            <a:srgbClr val="222222"/>
                          </a:solidFill>
                          <a:latin typeface="Calibri"/>
                        </a:rPr>
                        <a:t>PASS</a:t>
                      </a:r>
                    </a:p>
                  </a:txBody>
                  <a:tcPr marL="54864" marR="54864" marT="27432" marB="27432">
                    <a:solidFill>
                      <a:srgbClr val="F2F4F7"/>
                    </a:solidFill>
                  </a:tcPr>
                </a:tc>
              </a:tr>
              <a:tr h="306592">
                <a:tc>
                  <a:txBody>
                    <a:bodyPr/>
                    <a:lstStyle/>
                    <a:p>
                      <a:r>
                        <a:rPr sz="1100">
                          <a:solidFill>
                            <a:srgbClr val="222222"/>
                          </a:solidFill>
                          <a:latin typeface="Calibri"/>
                        </a:rPr>
                        <a:t>GB2</a:t>
                      </a:r>
                    </a:p>
                  </a:txBody>
                  <a:tcPr marL="54864" marR="54864" marT="27432" marB="27432">
                    <a:solidFill>
                      <a:srgbClr val="FFFFFF"/>
                    </a:solidFill>
                  </a:tcPr>
                </a:tc>
                <a:tc>
                  <a:txBody>
                    <a:bodyPr/>
                    <a:lstStyle/>
                    <a:p>
                      <a:r>
                        <a:rPr sz="1100">
                          <a:solidFill>
                            <a:srgbClr val="222222"/>
                          </a:solidFill>
                          <a:latin typeface="Calibri"/>
                        </a:rPr>
                        <a:t>Initial COI RoCoF equals ΔP f0 / (2 H_sys), cases C0, C1, C4</a:t>
                      </a:r>
                    </a:p>
                  </a:txBody>
                  <a:tcPr marL="54864" marR="54864" marT="27432" marB="27432">
                    <a:solidFill>
                      <a:srgbClr val="FFFFFF"/>
                    </a:solidFill>
                  </a:tcPr>
                </a:tc>
                <a:tc>
                  <a:txBody>
                    <a:bodyPr/>
                    <a:lstStyle/>
                    <a:p>
                      <a:r>
                        <a:rPr sz="1100">
                          <a:solidFill>
                            <a:srgbClr val="222222"/>
                          </a:solidFill>
                          <a:latin typeface="Calibri"/>
                        </a:rPr>
                        <a:t>errors 0.19, 0.24, 0.93 percent</a:t>
                      </a:r>
                    </a:p>
                  </a:txBody>
                  <a:tcPr marL="54864" marR="54864" marT="27432" marB="27432">
                    <a:solidFill>
                      <a:srgbClr val="FFFFFF"/>
                    </a:solidFill>
                  </a:tcPr>
                </a:tc>
                <a:tc>
                  <a:txBody>
                    <a:bodyPr/>
                    <a:lstStyle/>
                    <a:p>
                      <a:r>
                        <a:rPr sz="1100">
                          <a:solidFill>
                            <a:srgbClr val="222222"/>
                          </a:solidFill>
                          <a:latin typeface="Calibri"/>
                        </a:rPr>
                        <a:t>PASS</a:t>
                      </a:r>
                    </a:p>
                  </a:txBody>
                  <a:tcPr marL="54864" marR="54864" marT="27432" marB="27432">
                    <a:solidFill>
                      <a:srgbClr val="FFFFFF"/>
                    </a:solidFill>
                  </a:tcPr>
                </a:tc>
              </a:tr>
              <a:tr h="306592">
                <a:tc>
                  <a:txBody>
                    <a:bodyPr/>
                    <a:lstStyle/>
                    <a:p>
                      <a:r>
                        <a:rPr sz="1100">
                          <a:solidFill>
                            <a:srgbClr val="222222"/>
                          </a:solidFill>
                          <a:latin typeface="Calibri"/>
                        </a:rPr>
                        <a:t>GB3</a:t>
                      </a:r>
                    </a:p>
                  </a:txBody>
                  <a:tcPr marL="54864" marR="54864" marT="27432" marB="27432">
                    <a:solidFill>
                      <a:srgbClr val="F2F4F7"/>
                    </a:solidFill>
                  </a:tcPr>
                </a:tc>
                <a:tc>
                  <a:txBody>
                    <a:bodyPr/>
                    <a:lstStyle/>
                    <a:p>
                      <a:r>
                        <a:rPr sz="1100">
                          <a:solidFill>
                            <a:srgbClr val="222222"/>
                          </a:solidFill>
                          <a:latin typeface="Calibri"/>
                        </a:rPr>
                        <a:t>C1 steady-state Δf equals the droop and load-damping formula</a:t>
                      </a:r>
                    </a:p>
                  </a:txBody>
                  <a:tcPr marL="54864" marR="54864" marT="27432" marB="27432">
                    <a:solidFill>
                      <a:srgbClr val="F2F4F7"/>
                    </a:solidFill>
                  </a:tcPr>
                </a:tc>
                <a:tc>
                  <a:txBody>
                    <a:bodyPr/>
                    <a:lstStyle/>
                    <a:p>
                      <a:r>
                        <a:rPr sz="1100">
                          <a:solidFill>
                            <a:srgbClr val="222222"/>
                          </a:solidFill>
                          <a:latin typeface="Calibri"/>
                        </a:rPr>
                        <a:t>error 1e-10</a:t>
                      </a:r>
                    </a:p>
                  </a:txBody>
                  <a:tcPr marL="54864" marR="54864" marT="27432" marB="27432">
                    <a:solidFill>
                      <a:srgbClr val="F2F4F7"/>
                    </a:solidFill>
                  </a:tcPr>
                </a:tc>
                <a:tc>
                  <a:txBody>
                    <a:bodyPr/>
                    <a:lstStyle/>
                    <a:p>
                      <a:r>
                        <a:rPr sz="1100">
                          <a:solidFill>
                            <a:srgbClr val="222222"/>
                          </a:solidFill>
                          <a:latin typeface="Calibri"/>
                        </a:rPr>
                        <a:t>PASS</a:t>
                      </a:r>
                    </a:p>
                  </a:txBody>
                  <a:tcPr marL="54864" marR="54864" marT="27432" marB="27432">
                    <a:solidFill>
                      <a:srgbClr val="F2F4F7"/>
                    </a:solidFill>
                  </a:tcPr>
                </a:tc>
              </a:tr>
              <a:tr h="306592">
                <a:tc>
                  <a:txBody>
                    <a:bodyPr/>
                    <a:lstStyle/>
                    <a:p>
                      <a:r>
                        <a:rPr sz="1100">
                          <a:solidFill>
                            <a:srgbClr val="222222"/>
                          </a:solidFill>
                          <a:latin typeface="Calibri"/>
                        </a:rPr>
                        <a:t>GB4</a:t>
                      </a:r>
                    </a:p>
                  </a:txBody>
                  <a:tcPr marL="54864" marR="54864" marT="27432" marB="27432">
                    <a:solidFill>
                      <a:srgbClr val="FFFFFF"/>
                    </a:solidFill>
                  </a:tcPr>
                </a:tc>
                <a:tc>
                  <a:txBody>
                    <a:bodyPr/>
                    <a:lstStyle/>
                    <a:p>
                      <a:r>
                        <a:rPr sz="1100">
                          <a:solidFill>
                            <a:srgbClr val="222222"/>
                          </a:solidFill>
                          <a:latin typeface="Calibri"/>
                        </a:rPr>
                        <a:t>Rotor energy balance: ∫(P_aero − P_e) dt equals ΔE_kinetic</a:t>
                      </a:r>
                    </a:p>
                  </a:txBody>
                  <a:tcPr marL="54864" marR="54864" marT="27432" marB="27432">
                    <a:solidFill>
                      <a:srgbClr val="FFFFFF"/>
                    </a:solidFill>
                  </a:tcPr>
                </a:tc>
                <a:tc>
                  <a:txBody>
                    <a:bodyPr/>
                    <a:lstStyle/>
                    <a:p>
                      <a:r>
                        <a:rPr sz="1100">
                          <a:solidFill>
                            <a:srgbClr val="222222"/>
                          </a:solidFill>
                          <a:latin typeface="Calibri"/>
                        </a:rPr>
                        <a:t>error 1e-11</a:t>
                      </a:r>
                    </a:p>
                  </a:txBody>
                  <a:tcPr marL="54864" marR="54864" marT="27432" marB="27432">
                    <a:solidFill>
                      <a:srgbClr val="FFFFFF"/>
                    </a:solidFill>
                  </a:tcPr>
                </a:tc>
                <a:tc>
                  <a:txBody>
                    <a:bodyPr/>
                    <a:lstStyle/>
                    <a:p>
                      <a:r>
                        <a:rPr sz="1100">
                          <a:solidFill>
                            <a:srgbClr val="222222"/>
                          </a:solidFill>
                          <a:latin typeface="Calibri"/>
                        </a:rPr>
                        <a:t>PASS</a:t>
                      </a:r>
                    </a:p>
                  </a:txBody>
                  <a:tcPr marL="54864" marR="54864" marT="27432" marB="27432">
                    <a:solidFill>
                      <a:srgbClr val="FFFFFF"/>
                    </a:solidFill>
                  </a:tcPr>
                </a:tc>
              </a:tr>
              <a:tr h="306592">
                <a:tc>
                  <a:txBody>
                    <a:bodyPr/>
                    <a:lstStyle/>
                    <a:p>
                      <a:r>
                        <a:rPr sz="1100">
                          <a:solidFill>
                            <a:srgbClr val="222222"/>
                          </a:solidFill>
                          <a:latin typeface="Calibri"/>
                        </a:rPr>
                        <a:t>GB5</a:t>
                      </a:r>
                    </a:p>
                  </a:txBody>
                  <a:tcPr marL="54864" marR="54864" marT="27432" marB="27432">
                    <a:solidFill>
                      <a:srgbClr val="F2F4F7"/>
                    </a:solidFill>
                  </a:tcPr>
                </a:tc>
                <a:tc>
                  <a:txBody>
                    <a:bodyPr/>
                    <a:lstStyle/>
                    <a:p>
                      <a:r>
                        <a:rPr sz="1100">
                          <a:solidFill>
                            <a:srgbClr val="222222"/>
                          </a:solidFill>
                          <a:latin typeface="Calibri"/>
                        </a:rPr>
                        <a:t>Proposed case keeps the rotor above the MPPT speed</a:t>
                      </a:r>
                    </a:p>
                  </a:txBody>
                  <a:tcPr marL="54864" marR="54864" marT="27432" marB="27432">
                    <a:solidFill>
                      <a:srgbClr val="F2F4F7"/>
                    </a:solidFill>
                  </a:tcPr>
                </a:tc>
                <a:tc>
                  <a:txBody>
                    <a:bodyPr/>
                    <a:lstStyle/>
                    <a:p>
                      <a:r>
                        <a:rPr sz="1100">
                          <a:solidFill>
                            <a:srgbClr val="222222"/>
                          </a:solidFill>
                          <a:latin typeface="Calibri"/>
                        </a:rPr>
                        <a:t>min 0.831 pu (limit 0.740)</a:t>
                      </a:r>
                    </a:p>
                  </a:txBody>
                  <a:tcPr marL="54864" marR="54864" marT="27432" marB="27432">
                    <a:solidFill>
                      <a:srgbClr val="F2F4F7"/>
                    </a:solidFill>
                  </a:tcPr>
                </a:tc>
                <a:tc>
                  <a:txBody>
                    <a:bodyPr/>
                    <a:lstStyle/>
                    <a:p>
                      <a:r>
                        <a:rPr sz="1100">
                          <a:solidFill>
                            <a:srgbClr val="222222"/>
                          </a:solidFill>
                          <a:latin typeface="Calibri"/>
                        </a:rPr>
                        <a:t>PASS</a:t>
                      </a:r>
                    </a:p>
                  </a:txBody>
                  <a:tcPr marL="54864" marR="54864" marT="27432" marB="27432">
                    <a:solidFill>
                      <a:srgbClr val="F2F4F7"/>
                    </a:solidFill>
                  </a:tcPr>
                </a:tc>
              </a:tr>
              <a:tr h="306592">
                <a:tc>
                  <a:txBody>
                    <a:bodyPr/>
                    <a:lstStyle/>
                    <a:p>
                      <a:r>
                        <a:rPr sz="1100">
                          <a:solidFill>
                            <a:srgbClr val="222222"/>
                          </a:solidFill>
                          <a:latin typeface="Calibri"/>
                        </a:rPr>
                        <a:t>GB6</a:t>
                      </a:r>
                    </a:p>
                  </a:txBody>
                  <a:tcPr marL="54864" marR="54864" marT="27432" marB="27432">
                    <a:solidFill>
                      <a:srgbClr val="FFFFFF"/>
                    </a:solidFill>
                  </a:tcPr>
                </a:tc>
                <a:tc>
                  <a:txBody>
                    <a:bodyPr/>
                    <a:lstStyle/>
                    <a:p>
                      <a:r>
                        <a:rPr sz="1100">
                          <a:solidFill>
                            <a:srgbClr val="222222"/>
                          </a:solidFill>
                          <a:latin typeface="Calibri"/>
                        </a:rPr>
                        <a:t>Ordering: C4 RoCoF below C1, C4 nadir above C1 and C2</a:t>
                      </a:r>
                    </a:p>
                  </a:txBody>
                  <a:tcPr marL="54864" marR="54864" marT="27432" marB="27432">
                    <a:solidFill>
                      <a:srgbClr val="FFFFFF"/>
                    </a:solidFill>
                  </a:tcPr>
                </a:tc>
                <a:tc>
                  <a:txBody>
                    <a:bodyPr/>
                    <a:lstStyle/>
                    <a:p>
                      <a:r>
                        <a:rPr sz="1100">
                          <a:solidFill>
                            <a:srgbClr val="222222"/>
                          </a:solidFill>
                          <a:latin typeface="Calibri"/>
                        </a:rPr>
                        <a:t>0.116 &lt; 0.305 Hz/s</a:t>
                      </a:r>
                    </a:p>
                  </a:txBody>
                  <a:tcPr marL="54864" marR="54864" marT="27432" marB="27432">
                    <a:solidFill>
                      <a:srgbClr val="FFFFFF"/>
                    </a:solidFill>
                  </a:tcPr>
                </a:tc>
                <a:tc>
                  <a:txBody>
                    <a:bodyPr/>
                    <a:lstStyle/>
                    <a:p>
                      <a:r>
                        <a:rPr sz="1100">
                          <a:solidFill>
                            <a:srgbClr val="222222"/>
                          </a:solidFill>
                          <a:latin typeface="Calibri"/>
                        </a:rPr>
                        <a:t>PASS</a:t>
                      </a:r>
                    </a:p>
                  </a:txBody>
                  <a:tcPr marL="54864" marR="54864" marT="27432" marB="27432">
                    <a:solidFill>
                      <a:srgbClr val="FFFFFF"/>
                    </a:solidFill>
                  </a:tcPr>
                </a:tc>
              </a:tr>
              <a:tr h="306592">
                <a:tc>
                  <a:txBody>
                    <a:bodyPr/>
                    <a:lstStyle/>
                    <a:p>
                      <a:r>
                        <a:rPr sz="1100">
                          <a:solidFill>
                            <a:srgbClr val="222222"/>
                          </a:solidFill>
                          <a:latin typeface="Calibri"/>
                        </a:rPr>
                        <a:t>GC1</a:t>
                      </a:r>
                    </a:p>
                  </a:txBody>
                  <a:tcPr marL="54864" marR="54864" marT="27432" marB="27432">
                    <a:solidFill>
                      <a:srgbClr val="F2F4F7"/>
                    </a:solidFill>
                  </a:tcPr>
                </a:tc>
                <a:tc>
                  <a:txBody>
                    <a:bodyPr/>
                    <a:lstStyle/>
                    <a:p>
                      <a:r>
                        <a:rPr sz="1100">
                          <a:solidFill>
                            <a:srgbClr val="222222"/>
                          </a:solidFill>
                          <a:latin typeface="Calibri"/>
                        </a:rPr>
                        <a:t>GFL static limit without voltage support at SCR = 2 P0</a:t>
                      </a:r>
                    </a:p>
                  </a:txBody>
                  <a:tcPr marL="54864" marR="54864" marT="27432" marB="27432">
                    <a:solidFill>
                      <a:srgbClr val="F2F4F7"/>
                    </a:solidFill>
                  </a:tcPr>
                </a:tc>
                <a:tc>
                  <a:txBody>
                    <a:bodyPr/>
                    <a:lstStyle/>
                    <a:p>
                      <a:r>
                        <a:rPr sz="1100">
                          <a:solidFill>
                            <a:srgbClr val="222222"/>
                          </a:solidFill>
                          <a:latin typeface="Calibri"/>
                        </a:rPr>
                        <a:t>within 2 percent</a:t>
                      </a:r>
                    </a:p>
                  </a:txBody>
                  <a:tcPr marL="54864" marR="54864" marT="27432" marB="27432">
                    <a:solidFill>
                      <a:srgbClr val="F2F4F7"/>
                    </a:solidFill>
                  </a:tcPr>
                </a:tc>
                <a:tc>
                  <a:txBody>
                    <a:bodyPr/>
                    <a:lstStyle/>
                    <a:p>
                      <a:r>
                        <a:rPr sz="1100">
                          <a:solidFill>
                            <a:srgbClr val="222222"/>
                          </a:solidFill>
                          <a:latin typeface="Calibri"/>
                        </a:rPr>
                        <a:t>PASS</a:t>
                      </a:r>
                    </a:p>
                  </a:txBody>
                  <a:tcPr marL="54864" marR="54864" marT="27432" marB="27432">
                    <a:solidFill>
                      <a:srgbClr val="F2F4F7"/>
                    </a:solidFill>
                  </a:tcPr>
                </a:tc>
              </a:tr>
              <a:tr h="306592">
                <a:tc>
                  <a:txBody>
                    <a:bodyPr/>
                    <a:lstStyle/>
                    <a:p>
                      <a:r>
                        <a:rPr sz="1100">
                          <a:solidFill>
                            <a:srgbClr val="222222"/>
                          </a:solidFill>
                          <a:latin typeface="Calibri"/>
                        </a:rPr>
                        <a:t>GC2</a:t>
                      </a:r>
                    </a:p>
                  </a:txBody>
                  <a:tcPr marL="54864" marR="54864" marT="27432" marB="27432">
                    <a:solidFill>
                      <a:srgbClr val="FFFFFF"/>
                    </a:solidFill>
                  </a:tcPr>
                </a:tc>
                <a:tc>
                  <a:txBody>
                    <a:bodyPr/>
                    <a:lstStyle/>
                    <a:p>
                      <a:r>
                        <a:rPr sz="1100">
                          <a:solidFill>
                            <a:srgbClr val="222222"/>
                          </a:solidFill>
                          <a:latin typeface="Calibri"/>
                        </a:rPr>
                        <a:t>GFM swing mode matches closed-form ω_n and ζ at SCR 5</a:t>
                      </a:r>
                    </a:p>
                  </a:txBody>
                  <a:tcPr marL="54864" marR="54864" marT="27432" marB="27432">
                    <a:solidFill>
                      <a:srgbClr val="FFFFFF"/>
                    </a:solidFill>
                  </a:tcPr>
                </a:tc>
                <a:tc>
                  <a:txBody>
                    <a:bodyPr/>
                    <a:lstStyle/>
                    <a:p>
                      <a:r>
                        <a:rPr sz="1100">
                          <a:solidFill>
                            <a:srgbClr val="222222"/>
                          </a:solidFill>
                          <a:latin typeface="Calibri"/>
                        </a:rPr>
                        <a:t>within 2 percent</a:t>
                      </a:r>
                    </a:p>
                  </a:txBody>
                  <a:tcPr marL="54864" marR="54864" marT="27432" marB="27432">
                    <a:solidFill>
                      <a:srgbClr val="FFFFFF"/>
                    </a:solidFill>
                  </a:tcPr>
                </a:tc>
                <a:tc>
                  <a:txBody>
                    <a:bodyPr/>
                    <a:lstStyle/>
                    <a:p>
                      <a:r>
                        <a:rPr sz="1100">
                          <a:solidFill>
                            <a:srgbClr val="222222"/>
                          </a:solidFill>
                          <a:latin typeface="Calibri"/>
                        </a:rPr>
                        <a:t>PASS</a:t>
                      </a:r>
                    </a:p>
                  </a:txBody>
                  <a:tcPr marL="54864" marR="54864" marT="27432" marB="27432">
                    <a:solidFill>
                      <a:srgbClr val="FFFFFF"/>
                    </a:solidFill>
                  </a:tcPr>
                </a:tc>
              </a:tr>
              <a:tr h="306592">
                <a:tc>
                  <a:txBody>
                    <a:bodyPr/>
                    <a:lstStyle/>
                    <a:p>
                      <a:r>
                        <a:rPr sz="1100">
                          <a:solidFill>
                            <a:srgbClr val="222222"/>
                          </a:solidFill>
                          <a:latin typeface="Calibri"/>
                        </a:rPr>
                        <a:t>GC3</a:t>
                      </a:r>
                    </a:p>
                  </a:txBody>
                  <a:tcPr marL="54864" marR="54864" marT="27432" marB="27432">
                    <a:solidFill>
                      <a:srgbClr val="F2F4F7"/>
                    </a:solidFill>
                  </a:tcPr>
                </a:tc>
                <a:tc>
                  <a:txBody>
                    <a:bodyPr/>
                    <a:lstStyle/>
                    <a:p>
                      <a:r>
                        <a:rPr sz="1100">
                          <a:solidFill>
                            <a:srgbClr val="222222"/>
                          </a:solidFill>
                          <a:latin typeface="Calibri"/>
                        </a:rPr>
                        <a:t>Every GFL variant stable at SCR 10</a:t>
                      </a:r>
                    </a:p>
                  </a:txBody>
                  <a:tcPr marL="54864" marR="54864" marT="27432" marB="27432">
                    <a:solidFill>
                      <a:srgbClr val="F2F4F7"/>
                    </a:solidFill>
                  </a:tcPr>
                </a:tc>
                <a:tc>
                  <a:txBody>
                    <a:bodyPr/>
                    <a:lstStyle/>
                    <a:p>
                      <a:r>
                        <a:rPr sz="1100">
                          <a:solidFill>
                            <a:srgbClr val="222222"/>
                          </a:solidFill>
                          <a:latin typeface="Calibri"/>
                        </a:rPr>
                        <a:t>yes</a:t>
                      </a:r>
                    </a:p>
                  </a:txBody>
                  <a:tcPr marL="54864" marR="54864" marT="27432" marB="27432">
                    <a:solidFill>
                      <a:srgbClr val="F2F4F7"/>
                    </a:solidFill>
                  </a:tcPr>
                </a:tc>
                <a:tc>
                  <a:txBody>
                    <a:bodyPr/>
                    <a:lstStyle/>
                    <a:p>
                      <a:r>
                        <a:rPr sz="1100">
                          <a:solidFill>
                            <a:srgbClr val="222222"/>
                          </a:solidFill>
                          <a:latin typeface="Calibri"/>
                        </a:rPr>
                        <a:t>PASS</a:t>
                      </a:r>
                    </a:p>
                  </a:txBody>
                  <a:tcPr marL="54864" marR="54864" marT="27432" marB="27432">
                    <a:solidFill>
                      <a:srgbClr val="F2F4F7"/>
                    </a:solidFill>
                  </a:tcPr>
                </a:tc>
              </a:tr>
              <a:tr h="306608">
                <a:tc>
                  <a:txBody>
                    <a:bodyPr/>
                    <a:lstStyle/>
                    <a:p>
                      <a:r>
                        <a:rPr sz="1100">
                          <a:solidFill>
                            <a:srgbClr val="222222"/>
                          </a:solidFill>
                          <a:latin typeface="Calibri"/>
                        </a:rPr>
                        <a:t>GC4</a:t>
                      </a:r>
                    </a:p>
                  </a:txBody>
                  <a:tcPr marL="54864" marR="54864" marT="27432" marB="27432">
                    <a:solidFill>
                      <a:srgbClr val="FFFFFF"/>
                    </a:solidFill>
                  </a:tcPr>
                </a:tc>
                <a:tc>
                  <a:txBody>
                    <a:bodyPr/>
                    <a:lstStyle/>
                    <a:p>
                      <a:r>
                        <a:rPr sz="1100">
                          <a:solidFill>
                            <a:srgbClr val="222222"/>
                          </a:solidFill>
                          <a:latin typeface="Calibri"/>
                        </a:rPr>
                        <a:t>GFL margin falls as SCR falls; GFM damping falls as SCR rises</a:t>
                      </a:r>
                    </a:p>
                  </a:txBody>
                  <a:tcPr marL="54864" marR="54864" marT="27432" marB="27432">
                    <a:solidFill>
                      <a:srgbClr val="FFFFFF"/>
                    </a:solidFill>
                  </a:tcPr>
                </a:tc>
                <a:tc>
                  <a:txBody>
                    <a:bodyPr/>
                    <a:lstStyle/>
                    <a:p>
                      <a:r>
                        <a:rPr sz="1100">
                          <a:solidFill>
                            <a:srgbClr val="222222"/>
                          </a:solidFill>
                          <a:latin typeface="Calibri"/>
                        </a:rPr>
                        <a:t>yes</a:t>
                      </a:r>
                    </a:p>
                  </a:txBody>
                  <a:tcPr marL="54864" marR="54864" marT="27432" marB="27432">
                    <a:solidFill>
                      <a:srgbClr val="FFFFFF"/>
                    </a:solidFill>
                  </a:tcPr>
                </a:tc>
                <a:tc>
                  <a:txBody>
                    <a:bodyPr/>
                    <a:lstStyle/>
                    <a:p>
                      <a:r>
                        <a:rPr sz="1100">
                          <a:solidFill>
                            <a:srgbClr val="222222"/>
                          </a:solidFill>
                          <a:latin typeface="Calibri"/>
                        </a:rPr>
                        <a:t>PASS</a:t>
                      </a:r>
                    </a:p>
                  </a:txBody>
                  <a:tcPr marL="54864" marR="54864" marT="27432" marB="27432">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30000" cy="731520"/>
          </a:xfrm>
          <a:prstGeom prst="rect">
            <a:avLst/>
          </a:prstGeom>
          <a:noFill/>
        </p:spPr>
        <p:txBody>
          <a:bodyPr wrap="square" anchor="ctr" lIns="73152" rIns="73152" tIns="36576" bIns="36576">
            <a:spAutoFit/>
          </a:bodyPr>
          <a:lstStyle/>
          <a:p>
            <a:pPr algn="l">
              <a:lnSpc>
                <a:spcPct val="115000"/>
              </a:lnSpc>
            </a:pPr>
            <a:r>
              <a:rPr sz="2600" b="1">
                <a:solidFill>
                  <a:srgbClr val="FFFFFF"/>
                </a:solidFill>
                <a:latin typeface="Calibri"/>
              </a:rPr>
              <a:t>Steps 2 and 3</a:t>
            </a:r>
          </a:p>
        </p:txBody>
      </p:sp>
      <p:sp>
        <p:nvSpPr>
          <p:cNvPr id="4" name="Rectangle 3"/>
          <p:cNvSpPr/>
          <p:nvPr/>
        </p:nvSpPr>
        <p:spPr>
          <a:xfrm>
            <a:off x="0" y="868680"/>
            <a:ext cx="12191695" cy="54864"/>
          </a:xfrm>
          <a:prstGeom prst="rect">
            <a:avLst/>
          </a:prstGeom>
          <a:solidFill>
            <a:srgbClr val="2CA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6446520"/>
            <a:ext cx="9144000" cy="320040"/>
          </a:xfrm>
          <a:prstGeom prst="rect">
            <a:avLst/>
          </a:prstGeom>
          <a:noFill/>
        </p:spPr>
        <p:txBody>
          <a:bodyPr wrap="square" anchor="t" lIns="73152" rIns="73152" tIns="36576" bIns="36576">
            <a:spAutoFit/>
          </a:bodyPr>
          <a:lstStyle/>
          <a:p>
            <a:pPr algn="l">
              <a:lnSpc>
                <a:spcPct val="115000"/>
              </a:lnSpc>
            </a:pPr>
            <a:r>
              <a:rPr sz="1000" b="0">
                <a:solidFill>
                  <a:srgbClr val="5F6B7A"/>
                </a:solidFill>
                <a:latin typeface="Calibri"/>
              </a:rPr>
              <a:t>Step 1 progress report, Wind Electrical Systems, BITS Goa</a:t>
            </a:r>
          </a:p>
        </p:txBody>
      </p:sp>
      <p:sp>
        <p:nvSpPr>
          <p:cNvPr id="6" name="TextBox 5"/>
          <p:cNvSpPr txBox="1"/>
          <p:nvPr/>
        </p:nvSpPr>
        <p:spPr>
          <a:xfrm>
            <a:off x="11155680" y="6446520"/>
            <a:ext cx="731520" cy="320040"/>
          </a:xfrm>
          <a:prstGeom prst="rect">
            <a:avLst/>
          </a:prstGeom>
          <a:noFill/>
        </p:spPr>
        <p:txBody>
          <a:bodyPr wrap="square" anchor="t" lIns="73152" rIns="73152" tIns="36576" bIns="36576">
            <a:spAutoFit/>
          </a:bodyPr>
          <a:lstStyle/>
          <a:p>
            <a:pPr algn="r">
              <a:lnSpc>
                <a:spcPct val="115000"/>
              </a:lnSpc>
            </a:pPr>
            <a:r>
              <a:rPr sz="1000" b="0">
                <a:solidFill>
                  <a:srgbClr val="5F6B7A"/>
                </a:solidFill>
                <a:latin typeface="Calibri"/>
              </a:rPr>
              <a:t>12</a:t>
            </a:r>
          </a:p>
        </p:txBody>
      </p:sp>
      <p:sp>
        <p:nvSpPr>
          <p:cNvPr id="7" name="Rounded Rectangle 6"/>
          <p:cNvSpPr/>
          <p:nvPr/>
        </p:nvSpPr>
        <p:spPr>
          <a:xfrm>
            <a:off x="457200" y="1280160"/>
            <a:ext cx="5486400" cy="3931920"/>
          </a:xfrm>
          <a:prstGeom prst="roundRect">
            <a:avLst>
              <a:gd name="adj" fmla="val 6000"/>
            </a:avLst>
          </a:prstGeom>
          <a:solidFill>
            <a:srgbClr val="F2F4F7"/>
          </a:solidFill>
          <a:ln w="12700">
            <a:solidFill>
              <a:srgbClr val="2CA02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lnSpc>
                <a:spcPct val="115000"/>
              </a:lnSpc>
            </a:pPr>
            <a:r>
              <a:rPr sz="1900" b="1">
                <a:solidFill>
                  <a:srgbClr val="1F3A5F"/>
                </a:solidFill>
                <a:latin typeface="Calibri"/>
              </a:rPr>
              <a:t>Step 2: detailed converter model</a:t>
            </a:r>
          </a:p>
          <a:p>
            <a:pPr algn="l">
              <a:lnSpc>
                <a:spcPct val="115000"/>
              </a:lnSpc>
            </a:pPr>
            <a:r>
              <a:rPr sz="1500" b="0">
                <a:solidFill>
                  <a:srgbClr val="222222"/>
                </a:solidFill>
                <a:latin typeface="Calibri"/>
              </a:rPr>
              <a:t>•  PMSG dq model with machine-side and grid-side converters and the DC link</a:t>
            </a:r>
          </a:p>
          <a:p>
            <a:pPr algn="l">
              <a:lnSpc>
                <a:spcPct val="115000"/>
              </a:lnSpc>
            </a:pPr>
            <a:r>
              <a:rPr sz="1500" b="0">
                <a:solidFill>
                  <a:srgbClr val="222222"/>
                </a:solidFill>
                <a:latin typeface="Calibri"/>
              </a:rPr>
              <a:t>•  Dual-port grid-forming control (Lyu and Gross, 2024)</a:t>
            </a:r>
          </a:p>
          <a:p>
            <a:pPr algn="l">
              <a:lnSpc>
                <a:spcPct val="115000"/>
              </a:lnSpc>
            </a:pPr>
            <a:r>
              <a:rPr sz="1500" b="0">
                <a:solidFill>
                  <a:srgbClr val="222222"/>
                </a:solidFill>
                <a:latin typeface="Calibri"/>
              </a:rPr>
              <a:t>•  Current limiting and fault ride-through</a:t>
            </a:r>
          </a:p>
          <a:p>
            <a:pPr algn="l">
              <a:lnSpc>
                <a:spcPct val="115000"/>
              </a:lnSpc>
            </a:pPr>
            <a:r>
              <a:rPr sz="1500" b="0">
                <a:solidFill>
                  <a:srgbClr val="222222"/>
                </a:solidFill>
                <a:latin typeface="Calibri"/>
              </a:rPr>
              <a:t>•  Realistic frequency-measurement windows for the grid-following comparison</a:t>
            </a:r>
          </a:p>
          <a:p>
            <a:pPr algn="l">
              <a:lnSpc>
                <a:spcPct val="115000"/>
              </a:lnSpc>
            </a:pPr>
            <a:r>
              <a:rPr sz="1500" b="0">
                <a:solidFill>
                  <a:srgbClr val="222222"/>
                </a:solidFill>
                <a:latin typeface="Calibri"/>
              </a:rPr>
              <a:t>•  Weak-grid study with electromagnetic network dynamics (fast-PLL penalty)</a:t>
            </a:r>
          </a:p>
        </p:txBody>
      </p:sp>
      <p:sp>
        <p:nvSpPr>
          <p:cNvPr id="8" name="Rounded Rectangle 7"/>
          <p:cNvSpPr/>
          <p:nvPr/>
        </p:nvSpPr>
        <p:spPr>
          <a:xfrm>
            <a:off x="6217920" y="1280160"/>
            <a:ext cx="5486400" cy="3931920"/>
          </a:xfrm>
          <a:prstGeom prst="roundRect">
            <a:avLst>
              <a:gd name="adj" fmla="val 6000"/>
            </a:avLst>
          </a:prstGeom>
          <a:solidFill>
            <a:srgbClr val="F2F4F7"/>
          </a:solidFill>
          <a:ln w="12700">
            <a:solidFill>
              <a:srgbClr val="2CA02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lnSpc>
                <a:spcPct val="115000"/>
              </a:lnSpc>
            </a:pPr>
            <a:r>
              <a:rPr sz="1900" b="1">
                <a:solidFill>
                  <a:srgbClr val="1F3A5F"/>
                </a:solidFill>
                <a:latin typeface="Calibri"/>
              </a:rPr>
              <a:t>Step 3: system test and final report</a:t>
            </a:r>
          </a:p>
          <a:p>
            <a:pPr algn="l">
              <a:lnSpc>
                <a:spcPct val="115000"/>
              </a:lnSpc>
            </a:pPr>
            <a:r>
              <a:rPr sz="1500" b="0">
                <a:solidFill>
                  <a:srgbClr val="222222"/>
                </a:solidFill>
                <a:latin typeface="Calibri"/>
              </a:rPr>
              <a:t>•  IEEE 9-bus test system with the detailed plant</a:t>
            </a:r>
          </a:p>
          <a:p>
            <a:pPr algn="l">
              <a:lnSpc>
                <a:spcPct val="115000"/>
              </a:lnSpc>
            </a:pPr>
            <a:r>
              <a:rPr sz="1500" b="0">
                <a:solidFill>
                  <a:srgbClr val="222222"/>
                </a:solidFill>
                <a:latin typeface="Calibri"/>
              </a:rPr>
              <a:t>•  Turbulent wind input and wind-speed sensitivity</a:t>
            </a:r>
          </a:p>
          <a:p>
            <a:pPr algn="l">
              <a:lnSpc>
                <a:spcPct val="115000"/>
              </a:lnSpc>
            </a:pPr>
            <a:r>
              <a:rPr sz="1500" b="0">
                <a:solidFill>
                  <a:srgbClr val="222222"/>
                </a:solidFill>
                <a:latin typeface="Calibri"/>
              </a:rPr>
              <a:t>•  Check against Indian grid-code requirements (IEGC 2023, CEA 2026)</a:t>
            </a:r>
          </a:p>
          <a:p>
            <a:pPr algn="l">
              <a:lnSpc>
                <a:spcPct val="115000"/>
              </a:lnSpc>
            </a:pPr>
            <a:r>
              <a:rPr sz="1500" b="0">
                <a:solidFill>
                  <a:srgbClr val="222222"/>
                </a:solidFill>
                <a:latin typeface="Calibri"/>
              </a:rPr>
              <a:t>•  Design recommendation for wind plants in weak Indian grids</a:t>
            </a:r>
          </a:p>
          <a:p>
            <a:pPr algn="l">
              <a:lnSpc>
                <a:spcPct val="115000"/>
              </a:lnSpc>
            </a:pPr>
            <a:r>
              <a:rPr sz="1500" b="0">
                <a:solidFill>
                  <a:srgbClr val="222222"/>
                </a:solidFill>
                <a:latin typeface="Calibri"/>
              </a:rPr>
              <a:t>•  Final report</a:t>
            </a:r>
          </a:p>
        </p:txBody>
      </p:sp>
      <p:sp>
        <p:nvSpPr>
          <p:cNvPr id="9" name="TextBox 8"/>
          <p:cNvSpPr txBox="1"/>
          <p:nvPr/>
        </p:nvSpPr>
        <p:spPr>
          <a:xfrm>
            <a:off x="457200" y="5394960"/>
            <a:ext cx="11247120" cy="914400"/>
          </a:xfrm>
          <a:prstGeom prst="rect">
            <a:avLst/>
          </a:prstGeom>
          <a:noFill/>
        </p:spPr>
        <p:txBody>
          <a:bodyPr wrap="square" anchor="t" lIns="73152" rIns="73152" tIns="36576" bIns="36576">
            <a:spAutoFit/>
          </a:bodyPr>
          <a:lstStyle/>
          <a:p>
            <a:pPr algn="l">
              <a:lnSpc>
                <a:spcPct val="115000"/>
              </a:lnSpc>
            </a:pPr>
            <a:r>
              <a:rPr sz="1600" b="1">
                <a:solidFill>
                  <a:srgbClr val="2CA02C"/>
                </a:solidFill>
                <a:latin typeface="Calibri"/>
              </a:rPr>
              <a:t>Step 1 delivered: aerodynamic design, frequency-support simulation, weak-grid stability study, 16 verified checks. Grid-forming wind with a rotor reserve keeps the nadir inside the IEGC band and stays stable where grid-following fails.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30000" cy="731520"/>
          </a:xfrm>
          <a:prstGeom prst="rect">
            <a:avLst/>
          </a:prstGeom>
          <a:noFill/>
        </p:spPr>
        <p:txBody>
          <a:bodyPr wrap="square" anchor="ctr" lIns="73152" rIns="73152" tIns="36576" bIns="36576">
            <a:spAutoFit/>
          </a:bodyPr>
          <a:lstStyle/>
          <a:p>
            <a:pPr algn="l">
              <a:lnSpc>
                <a:spcPct val="115000"/>
              </a:lnSpc>
            </a:pPr>
            <a:r>
              <a:rPr sz="2600" b="1">
                <a:solidFill>
                  <a:srgbClr val="FFFFFF"/>
                </a:solidFill>
                <a:latin typeface="Calibri"/>
              </a:rPr>
              <a:t>References</a:t>
            </a:r>
          </a:p>
        </p:txBody>
      </p:sp>
      <p:sp>
        <p:nvSpPr>
          <p:cNvPr id="4" name="Rectangle 3"/>
          <p:cNvSpPr/>
          <p:nvPr/>
        </p:nvSpPr>
        <p:spPr>
          <a:xfrm>
            <a:off x="0" y="868680"/>
            <a:ext cx="12191695" cy="54864"/>
          </a:xfrm>
          <a:prstGeom prst="rect">
            <a:avLst/>
          </a:prstGeom>
          <a:solidFill>
            <a:srgbClr val="2CA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6446520"/>
            <a:ext cx="9144000" cy="320040"/>
          </a:xfrm>
          <a:prstGeom prst="rect">
            <a:avLst/>
          </a:prstGeom>
          <a:noFill/>
        </p:spPr>
        <p:txBody>
          <a:bodyPr wrap="square" anchor="t" lIns="73152" rIns="73152" tIns="36576" bIns="36576">
            <a:spAutoFit/>
          </a:bodyPr>
          <a:lstStyle/>
          <a:p>
            <a:pPr algn="l">
              <a:lnSpc>
                <a:spcPct val="115000"/>
              </a:lnSpc>
            </a:pPr>
            <a:r>
              <a:rPr sz="1000" b="0">
                <a:solidFill>
                  <a:srgbClr val="5F6B7A"/>
                </a:solidFill>
                <a:latin typeface="Calibri"/>
              </a:rPr>
              <a:t>Step 1 progress report, Wind Electrical Systems, BITS Goa</a:t>
            </a:r>
          </a:p>
        </p:txBody>
      </p:sp>
      <p:sp>
        <p:nvSpPr>
          <p:cNvPr id="6" name="TextBox 5"/>
          <p:cNvSpPr txBox="1"/>
          <p:nvPr/>
        </p:nvSpPr>
        <p:spPr>
          <a:xfrm>
            <a:off x="11155680" y="6446520"/>
            <a:ext cx="731520" cy="320040"/>
          </a:xfrm>
          <a:prstGeom prst="rect">
            <a:avLst/>
          </a:prstGeom>
          <a:noFill/>
        </p:spPr>
        <p:txBody>
          <a:bodyPr wrap="square" anchor="t" lIns="73152" rIns="73152" tIns="36576" bIns="36576">
            <a:spAutoFit/>
          </a:bodyPr>
          <a:lstStyle/>
          <a:p>
            <a:pPr algn="r">
              <a:lnSpc>
                <a:spcPct val="115000"/>
              </a:lnSpc>
            </a:pPr>
            <a:r>
              <a:rPr sz="1000" b="0">
                <a:solidFill>
                  <a:srgbClr val="5F6B7A"/>
                </a:solidFill>
                <a:latin typeface="Calibri"/>
              </a:rPr>
              <a:t>13</a:t>
            </a:r>
          </a:p>
        </p:txBody>
      </p:sp>
      <p:sp>
        <p:nvSpPr>
          <p:cNvPr id="7" name="TextBox 6"/>
          <p:cNvSpPr txBox="1"/>
          <p:nvPr/>
        </p:nvSpPr>
        <p:spPr>
          <a:xfrm>
            <a:off x="365760" y="1097280"/>
            <a:ext cx="5669280" cy="5212080"/>
          </a:xfrm>
          <a:prstGeom prst="rect">
            <a:avLst/>
          </a:prstGeom>
          <a:noFill/>
        </p:spPr>
        <p:txBody>
          <a:bodyPr wrap="square" anchor="t" lIns="73152" rIns="73152" tIns="36576" bIns="36576">
            <a:spAutoFit/>
          </a:bodyPr>
          <a:lstStyle/>
          <a:p>
            <a:pPr algn="l">
              <a:lnSpc>
                <a:spcPct val="120000"/>
              </a:lnSpc>
            </a:pPr>
            <a:r>
              <a:rPr sz="1200" b="0">
                <a:solidFill>
                  <a:srgbClr val="222222"/>
                </a:solidFill>
                <a:latin typeface="Calibri"/>
              </a:rPr>
              <a:t>[1] Y. Lyu, D. Gross, Grid forming fast frequency response for PMSG-based wind turbines, IEEE Trans. Sustainable Energy, 15(1), 23-38, 2024.</a:t>
            </a:r>
          </a:p>
          <a:p>
            <a:pPr algn="l">
              <a:lnSpc>
                <a:spcPct val="120000"/>
              </a:lnSpc>
            </a:pPr>
            <a:r>
              <a:rPr sz="1200" b="0">
                <a:solidFill>
                  <a:srgbClr val="222222"/>
                </a:solidFill>
                <a:latin typeface="Calibri"/>
              </a:rPr>
              <a:t>[2] Y. Lyu, I. Subotic, D. Gross, Unified grid-forming control of PMSG wind turbines for fast frequency response and MPPT, IREP 2022, arXiv 2207.09536.</a:t>
            </a:r>
          </a:p>
          <a:p>
            <a:pPr algn="l">
              <a:lnSpc>
                <a:spcPct val="120000"/>
              </a:lnSpc>
            </a:pPr>
            <a:r>
              <a:rPr sz="1200" b="0">
                <a:solidFill>
                  <a:srgbClr val="222222"/>
                </a:solidFill>
                <a:latin typeface="Calibri"/>
              </a:rPr>
              <a:t>[3] Yao et al., Grid-forming wind turbine control based on novel deloading strategy and adaptive configurable natural droop controller, Frontiers in Energy Research, 2026.</a:t>
            </a:r>
          </a:p>
          <a:p>
            <a:pPr algn="l">
              <a:lnSpc>
                <a:spcPct val="120000"/>
              </a:lnSpc>
            </a:pPr>
            <a:r>
              <a:rPr sz="1200" b="0">
                <a:solidFill>
                  <a:srgbClr val="222222"/>
                </a:solidFill>
                <a:latin typeface="Calibri"/>
              </a:rPr>
              <a:t>[4] S. D'Arco, J. A. Suul, Equivalence of virtual synchronous machines and frequency-droops for converter-based microgrids, IEEE Trans. Smart Grid, 5(1), 2014.</a:t>
            </a:r>
          </a:p>
          <a:p>
            <a:pPr algn="l">
              <a:lnSpc>
                <a:spcPct val="120000"/>
              </a:lnSpc>
            </a:pPr>
            <a:r>
              <a:rPr sz="1200" b="0">
                <a:solidFill>
                  <a:srgbClr val="222222"/>
                </a:solidFill>
                <a:latin typeface="Calibri"/>
              </a:rPr>
              <a:t>[5] Y. Li, Y. Gu, T. C. Green, Revisiting grid-forming and grid-following inverters: a duality theory, IEEE Trans. Power Systems, 37(6), 2022.</a:t>
            </a:r>
          </a:p>
          <a:p>
            <a:pPr algn="l">
              <a:lnSpc>
                <a:spcPct val="120000"/>
              </a:lnSpc>
            </a:pPr>
            <a:r>
              <a:rPr sz="1200" b="0">
                <a:solidFill>
                  <a:srgbClr val="222222"/>
                </a:solidFill>
                <a:latin typeface="Calibri"/>
              </a:rPr>
              <a:t>[6] J. Ullah, T. Thiringer, D. Karlsson, Temporary primary frequency control support by variable speed wind turbines, IEEE Trans. Power Systems, 23(2), 2008.</a:t>
            </a:r>
          </a:p>
          <a:p>
            <a:pPr algn="l">
              <a:lnSpc>
                <a:spcPct val="120000"/>
              </a:lnSpc>
            </a:pPr>
            <a:r>
              <a:rPr sz="1200" b="0">
                <a:solidFill>
                  <a:srgbClr val="222222"/>
                </a:solidFill>
                <a:latin typeface="Calibri"/>
              </a:rPr>
              <a:t>[7] P. Kundur, Power System Stability and Control, McGraw-Hill, 1994.</a:t>
            </a:r>
          </a:p>
          <a:p>
            <a:pPr algn="l">
              <a:lnSpc>
                <a:spcPct val="120000"/>
              </a:lnSpc>
            </a:pPr>
            <a:r>
              <a:rPr sz="1200" b="0">
                <a:solidFill>
                  <a:srgbClr val="222222"/>
                </a:solidFill>
                <a:latin typeface="Calibri"/>
              </a:rPr>
              <a:t>[8] S. Heier, Grid Integration of Wind Energy Conversion Systems, Wiley, 1998.</a:t>
            </a:r>
          </a:p>
        </p:txBody>
      </p:sp>
      <p:sp>
        <p:nvSpPr>
          <p:cNvPr id="8" name="TextBox 7"/>
          <p:cNvSpPr txBox="1"/>
          <p:nvPr/>
        </p:nvSpPr>
        <p:spPr>
          <a:xfrm>
            <a:off x="6217920" y="1097280"/>
            <a:ext cx="5669280" cy="5212080"/>
          </a:xfrm>
          <a:prstGeom prst="rect">
            <a:avLst/>
          </a:prstGeom>
          <a:noFill/>
        </p:spPr>
        <p:txBody>
          <a:bodyPr wrap="square" anchor="t" lIns="73152" rIns="73152" tIns="36576" bIns="36576">
            <a:spAutoFit/>
          </a:bodyPr>
          <a:lstStyle/>
          <a:p>
            <a:pPr algn="l">
              <a:lnSpc>
                <a:spcPct val="120000"/>
              </a:lnSpc>
            </a:pPr>
            <a:r>
              <a:rPr sz="1200" b="0">
                <a:solidFill>
                  <a:srgbClr val="222222"/>
                </a:solidFill>
                <a:latin typeface="Calibri"/>
              </a:rPr>
              <a:t>[9] S. N. Bhadra, D. Kastha, S. Banerjee, Wind Electrical Systems, Oxford University Press, 2005.</a:t>
            </a:r>
          </a:p>
          <a:p>
            <a:pPr algn="l">
              <a:lnSpc>
                <a:spcPct val="120000"/>
              </a:lnSpc>
            </a:pPr>
            <a:r>
              <a:rPr sz="1200" b="0">
                <a:solidFill>
                  <a:srgbClr val="222222"/>
                </a:solidFill>
                <a:latin typeface="Calibri"/>
              </a:rPr>
              <a:t>[10] Yu et al., An overview of grid-forming control for wind turbine converters, IEEE IECON 2021.</a:t>
            </a:r>
          </a:p>
          <a:p>
            <a:pPr algn="l">
              <a:lnSpc>
                <a:spcPct val="120000"/>
              </a:lnSpc>
            </a:pPr>
            <a:r>
              <a:rPr sz="1200" b="0">
                <a:solidFill>
                  <a:srgbClr val="222222"/>
                </a:solidFill>
                <a:latin typeface="Calibri"/>
              </a:rPr>
              <a:t>[11] GRID-INDIA, Discussion paper on grid-forming inverters, 2026 (Power Line, Feb 2026).</a:t>
            </a:r>
          </a:p>
          <a:p>
            <a:pPr algn="l">
              <a:lnSpc>
                <a:spcPct val="120000"/>
              </a:lnSpc>
            </a:pPr>
            <a:r>
              <a:rPr sz="1200" b="0">
                <a:solidFill>
                  <a:srgbClr val="222222"/>
                </a:solidFill>
                <a:latin typeface="Calibri"/>
              </a:rPr>
              <a:t>[12] Ember, Transmission gaps are beginning to constrain India's rapid renewables integration, 2026.</a:t>
            </a:r>
          </a:p>
          <a:p>
            <a:pPr algn="l">
              <a:lnSpc>
                <a:spcPct val="120000"/>
              </a:lnSpc>
            </a:pPr>
            <a:r>
              <a:rPr sz="1200" b="0">
                <a:solidFill>
                  <a:srgbClr val="222222"/>
                </a:solidFill>
                <a:latin typeface="Calibri"/>
              </a:rPr>
              <a:t>[13] CEA, Technical Standards for Construction of Electrical Plants and Electric Lines (Amendment) Regulations, 2026.</a:t>
            </a:r>
          </a:p>
          <a:p>
            <a:pPr algn="l">
              <a:lnSpc>
                <a:spcPct val="120000"/>
              </a:lnSpc>
            </a:pPr>
            <a:r>
              <a:rPr sz="1200" b="0">
                <a:solidFill>
                  <a:srgbClr val="222222"/>
                </a:solidFill>
                <a:latin typeface="Calibri"/>
              </a:rPr>
              <a:t>[14] CERC, Indian Electricity Grid Code Regulations, 2023.</a:t>
            </a:r>
          </a:p>
          <a:p>
            <a:pPr algn="l">
              <a:lnSpc>
                <a:spcPct val="120000"/>
              </a:lnSpc>
            </a:pPr>
            <a:r>
              <a:rPr sz="1200" b="0">
                <a:solidFill>
                  <a:srgbClr val="222222"/>
                </a:solidFill>
                <a:latin typeface="Calibri"/>
              </a:rPr>
              <a:t>[15] IEEE Std 1204-1997, Guide for planning DC links terminating at AC locations having low short-circuit capacities.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